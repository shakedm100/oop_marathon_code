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74" r:id="rId1"/>
    <p:sldMasterId id="2147483687" r:id="rId2"/>
  </p:sldMasterIdLst>
  <p:notesMasterIdLst>
    <p:notesMasterId r:id="rId29"/>
  </p:notesMasterIdLst>
  <p:handoutMasterIdLst>
    <p:handoutMasterId r:id="rId30"/>
  </p:handoutMasterIdLst>
  <p:sldIdLst>
    <p:sldId id="392" r:id="rId3"/>
    <p:sldId id="451" r:id="rId4"/>
    <p:sldId id="452" r:id="rId5"/>
    <p:sldId id="453" r:id="rId6"/>
    <p:sldId id="457" r:id="rId7"/>
    <p:sldId id="494" r:id="rId8"/>
    <p:sldId id="455" r:id="rId9"/>
    <p:sldId id="495" r:id="rId10"/>
    <p:sldId id="459" r:id="rId11"/>
    <p:sldId id="462" r:id="rId12"/>
    <p:sldId id="496" r:id="rId13"/>
    <p:sldId id="463" r:id="rId14"/>
    <p:sldId id="464" r:id="rId15"/>
    <p:sldId id="467" r:id="rId16"/>
    <p:sldId id="466" r:id="rId17"/>
    <p:sldId id="497" r:id="rId18"/>
    <p:sldId id="469" r:id="rId19"/>
    <p:sldId id="470" r:id="rId20"/>
    <p:sldId id="471" r:id="rId21"/>
    <p:sldId id="473" r:id="rId22"/>
    <p:sldId id="461" r:id="rId23"/>
    <p:sldId id="498" r:id="rId24"/>
    <p:sldId id="499" r:id="rId25"/>
    <p:sldId id="501" r:id="rId26"/>
    <p:sldId id="500" r:id="rId27"/>
    <p:sldId id="502" r:id="rId28"/>
  </p:sldIdLst>
  <p:sldSz cx="9144000" cy="6858000" type="screen4x3"/>
  <p:notesSz cx="9874250" cy="6797675"/>
  <p:embeddedFontLst>
    <p:embeddedFont>
      <p:font typeface="Bookman Old Style" panose="02050604050505020204" pitchFamily="18" charset="0"/>
      <p:regular r:id="rId31"/>
      <p:bold r:id="rId32"/>
      <p:italic r:id="rId33"/>
      <p:boldItalic r:id="rId34"/>
    </p:embeddedFont>
    <p:embeddedFont>
      <p:font typeface="David" panose="020E0502060401010101" pitchFamily="34" charset="-79"/>
      <p:regular r:id="rId35"/>
      <p:bold r:id="rId36"/>
    </p:embeddedFont>
    <p:embeddedFont>
      <p:font typeface="Gill Sans MT" panose="020B0502020104020203" pitchFamily="34" charset="77"/>
      <p:regular r:id="rId37"/>
      <p:bold r:id="rId38"/>
      <p:italic r:id="rId39"/>
      <p:boldItalic r:id="rId40"/>
    </p:embeddedFont>
    <p:embeddedFont>
      <p:font typeface="Tahoma" panose="020B0604030504040204" pitchFamily="34" charset="0"/>
      <p:regular r:id="rId41"/>
      <p:bold r:id="rId42"/>
    </p:embeddedFont>
    <p:embeddedFont>
      <p:font typeface="Wingdings 3" pitchFamily="2" charset="2"/>
      <p:regular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מקטע ברירת מחדל" id="{E501FDA5-0AE5-4D64-A564-C48335F4AF83}">
          <p14:sldIdLst>
            <p14:sldId id="392"/>
            <p14:sldId id="451"/>
            <p14:sldId id="452"/>
            <p14:sldId id="453"/>
            <p14:sldId id="457"/>
            <p14:sldId id="494"/>
            <p14:sldId id="455"/>
            <p14:sldId id="495"/>
            <p14:sldId id="459"/>
            <p14:sldId id="462"/>
            <p14:sldId id="496"/>
            <p14:sldId id="463"/>
            <p14:sldId id="464"/>
            <p14:sldId id="467"/>
            <p14:sldId id="466"/>
            <p14:sldId id="497"/>
            <p14:sldId id="469"/>
            <p14:sldId id="470"/>
            <p14:sldId id="471"/>
            <p14:sldId id="473"/>
            <p14:sldId id="461"/>
            <p14:sldId id="498"/>
            <p14:sldId id="499"/>
            <p14:sldId id="501"/>
            <p14:sldId id="500"/>
            <p14:sldId id="5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יהונתן לויאן" initials="יל" lastIdx="1" clrIdx="0">
    <p:extLst>
      <p:ext uri="{19B8F6BF-5375-455C-9EA6-DF929625EA0E}">
        <p15:presenceInfo xmlns:p15="http://schemas.microsoft.com/office/powerpoint/2012/main" userId="S::levian@g.jct.ac.il::92a48aa4-c7f8-4810-b9b9-463840dd8cd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9644"/>
    <a:srgbClr val="14A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ללא סגנון, ללא רשת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CF1AB2-1976-4502-BF36-3FF5EA218861}" styleName="סגנון ביניים 4 - הדגשה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B301B821-A1FF-4177-AEE7-76D212191A09}" styleName="סגנון ביניים 1 - הדגשה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סגנון ביניים 1 - הדגשה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DF18680-E054-41AD-8BC1-D1AEF772440D}" styleName="סגנון ביניים 2 - הדגשה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43" autoAdjust="0"/>
    <p:restoredTop sz="95226" autoAdjust="0"/>
  </p:normalViewPr>
  <p:slideViewPr>
    <p:cSldViewPr>
      <p:cViewPr varScale="1">
        <p:scale>
          <a:sx n="171" d="100"/>
          <a:sy n="171" d="100"/>
        </p:scale>
        <p:origin x="328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9.fntdata"/><Relationship Id="rId21" Type="http://schemas.openxmlformats.org/officeDocument/2006/relationships/slide" Target="slides/slide19.xml"/><Relationship Id="rId34" Type="http://schemas.openxmlformats.org/officeDocument/2006/relationships/font" Target="fonts/font4.fntdata"/><Relationship Id="rId42" Type="http://schemas.openxmlformats.org/officeDocument/2006/relationships/font" Target="fonts/font12.fntdata"/><Relationship Id="rId47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font" Target="fonts/font10.fntdata"/><Relationship Id="rId45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6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1.fntdata"/><Relationship Id="rId44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handoutMaster" Target="handoutMasters/handoutMaster1.xml"/><Relationship Id="rId35" Type="http://schemas.openxmlformats.org/officeDocument/2006/relationships/font" Target="fonts/font5.fntdata"/><Relationship Id="rId43" Type="http://schemas.openxmlformats.org/officeDocument/2006/relationships/font" Target="fonts/font13.fntdata"/><Relationship Id="rId48" Type="http://schemas.openxmlformats.org/officeDocument/2006/relationships/tableStyles" Target="tableStyle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3.fntdata"/><Relationship Id="rId38" Type="http://schemas.openxmlformats.org/officeDocument/2006/relationships/font" Target="fonts/font8.fntdata"/><Relationship Id="rId46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font" Target="fonts/font11.fnt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593123" y="1"/>
            <a:ext cx="4278842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fld id="{BA8D2C58-42A2-402F-BDCD-0D925AF2D68E}" type="datetimeFigureOut">
              <a:rPr lang="he-IL" smtClean="0"/>
              <a:t>כ"ה.כסלו.תשפ"ו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593123" y="6456612"/>
            <a:ext cx="4278842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fld id="{5A44D7B4-3238-43CF-9FA2-EF2A1D4B14F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465718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21T10:23:29.116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1 405 24575,'0'-36'0,"2"0"0,2 0 0,1 1 0,1 0 0,21-63 0,-21 83 0,1 1 0,0 0 0,1 0 0,1 1 0,0 0 0,1 0 0,17-17 0,-27 30 0,0 0 0,0-1 0,0 1 0,0 0 0,1 0 0,-1 0 0,0 0 0,0-1 0,0 1 0,0 0 0,1 0 0,-1 0 0,0 0 0,0 0 0,1 0 0,-1-1 0,0 1 0,0 0 0,0 0 0,1 0 0,-1 0 0,0 0 0,0 0 0,1 0 0,-1 0 0,0 0 0,0 0 0,1 0 0,-1 0 0,0 0 0,0 0 0,1 1 0,-1-1 0,0 0 0,0 0 0,0 0 0,1 0 0,-1 0 0,0 0 0,0 1 0,0-1 0,1 0 0,-1 0 0,0 0 0,0 0 0,0 1 0,5 15 0,-3 23 0,-2-38 0,-1 12 0,-1 0 0,0-1 0,-1 1 0,-5 16 0,-5 19 0,2 1-1365,8-36-5461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11-21T10:23:32.464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1 992 24575,'0'-9'0,"1"0"0,0 0 0,1 0 0,0 0 0,0 1 0,1-1 0,6-14 0,36-56 0,-31 55 0,15-31 0,8-20 0,-25 53 0,-1 0 0,-1-1 0,-1 0 0,-1-1 0,8-38 0,-16 62 0,0 0 0,0 0 0,0 0 0,0 0 0,0 0 0,0 0 0,0 0 0,0 1 0,0-1 0,0 0 0,0 0 0,0 0 0,0 0 0,0 0 0,0 0 0,0 0 0,-1 0 0,1 0 0,0 0 0,0 0 0,0 0 0,0 0 0,0 0 0,0 0 0,0 0 0,0 1 0,0-1 0,0 0 0,-1 0 0,1 0 0,0 0 0,0 0 0,0 0 0,0 0 0,0 0 0,0 0 0,0-1 0,0 1 0,0 0 0,0 0 0,-1 0 0,1 0 0,0 0 0,0 0 0,0 0 0,0 0 0,0 0 0,0 0 0,0 0 0,0 0 0,0 0 0,0 0 0,0 0 0,0 0 0,-1 0 0,1-1 0,0 1 0,0 0 0,0 0 0,0 0 0,0 0 0,-11 12 0,-12 18 0,-67 112 0,90-142 0,0 1 0,0-1 0,0 0 0,0 0 0,0 0 0,0 0 0,0 0 0,0 1 0,-1-1 0,1 0 0,0 0 0,0 0 0,0 0 0,0 0 0,0 0 0,0 0 0,0 0 0,-1 0 0,1 1 0,0-1 0,0 0 0,0 0 0,0 0 0,0 0 0,-1 0 0,1 0 0,0 0 0,0 0 0,0 0 0,0 0 0,-1 0 0,1 0 0,0 0 0,0 0 0,0 0 0,0 0 0,0 0 0,-1 0 0,1 0 0,0 0 0,0-1 0,0 1 0,0 0 0,0 0 0,-1 0 0,1 0 0,0 0 0,0 0 0,0 0 0,0 0 0,0-1 0,0 1 0,0 0 0,0 0 0,-1 0 0,-2-14 0,0-15 0,4 4 0,1 0 0,1 0 0,1 0 0,8-24 0,-5 23 0,-2-1 0,0 0 0,0-30 0,-5 51 0,0 2 0,0 0 0,0-1 0,0 1 0,0 0 0,1 0 0,0 0 0,0 0 0,0 0 0,3-7 0,-5 44 0,-9 2 0,-2 0 0,-2-1 0,-22 43 0,30-69 0,5-13 0,6-27 0,-3 21 0,4-24 0,42-209 0,-41 226 0,-3 27 0,-2 31 0,-8 28 0,-22 107 0,18-124 0,25-102 0,37-85 0,-37 100 0,-1-5 0,17-79 0,-23 85 0,-4 16-109,-1 2-310,2-1 1,8-20-1,-10 29-6407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1-25T07:30:27.258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208 1 16 0 0,'0'0'1354'0'0,"-36"11"3405"0"0,36-11-4728 0 0,-1 0-8 0 0,1 0-13 0 0,-33 0 851 0 0,-22-2-580 0 0,30 4-98 0 0,7 1-69 0 0,17-3-100 0 0,1 1-50 0 0,0 0 1 0 0,-1 0-1 0 0,0 0 1 0 0,1 0 0 0 0,-1 0-1 0 0,0 0 1 0 0,1-1-1 0 0,-1 1 1 0 0,0 0 0 0 0,0-1-1 0 0,0 1 1 0 0,1 0-1 0 0,-1-1 1 0 0,0 1 0 0 0,0-1-1 0 0,0 1 1 0 0,0-1-1 0 0,0 1 1 0 0,0-1 0 0 0,0 0-1 0 0,0 0 1 0 0,-2 1-1 0 0,2-1-34 0 0,0 0 0 0 0,0 0 0 0 0,0 0 0 0 0,0 1 0 0 0,0-1-1 0 0,0 0 1 0 0,0 1 0 0 0,0-1 0 0 0,0 0 0 0 0,1 1 0 0 0,-1-1-1 0 0,0 1 1 0 0,0-1 0 0 0,1 1 0 0 0,-1 0 0 0 0,0-1 0 0 0,1 1-1 0 0,-1 0 1 0 0,0 0 0 0 0,1-1 0 0 0,-1 2 0 0 0,1-2 63 0 0,0 0 0 0 0,0 1 18 0 0,0-1 4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1-25T07:31:04.669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126 0 984 0 0,'0'0'2061'0'0,"-36"35"2330"0"0,34-33-4346 0 0,1-1-1 0 0,-1 1 1 0 0,1 0-1 0 0,-1 0 1 0 0,1-1-1 0 0,0 1 1 0 0,0 0-1 0 0,-1 0 1 0 0,2 0-1 0 0,-1 1 1 0 0,0-1-1 0 0,-1 4 1 0 0,-9 17-516 0 0,2-11-224 0 0,8-10 645 0 0,0 0-1 0 0,0 0 0 0 0,0-1 1 0 0,0 1-1 0 0,0 0 0 0 0,-1-1 1 0 0,1 1-1 0 0,-1-1 0 0 0,1 0 1 0 0,-1 1-1 0 0,-3 1 0 0 0,-8 9 226 0 0,-7 5-2714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1-11-25T07:31:06.340"/>
    </inkml:context>
    <inkml:brush xml:id="br0">
      <inkml:brushProperty name="width" value="0.2" units="cm"/>
      <inkml:brushProperty name="height" value="0.2" units="cm"/>
      <inkml:brushProperty name="color" value="#FFFFFF"/>
    </inkml:brush>
  </inkml:definitions>
  <inkml:trace contextRef="#ctx0" brushRef="#br0">41 21 120 0 0,'0'0'2493'0'0,"-34"-16"-1495"0"0,27 12-1894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5593123" y="0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45EC6-2FF1-4F70-90CF-9B50D340DB85}" type="datetimeFigureOut">
              <a:rPr lang="en-US" smtClean="0"/>
              <a:t>12/15/25</a:t>
            </a:fld>
            <a:endParaRPr lang="en-US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3236913" y="509588"/>
            <a:ext cx="34004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987425" y="3228896"/>
            <a:ext cx="7899400" cy="30589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0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5593123" y="6456612"/>
            <a:ext cx="4278842" cy="33988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6969AA-9439-471E-9578-E8A340D4EA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55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6969AA-9439-471E-9578-E8A340D4EAE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89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6969AA-9439-471E-9578-E8A340D4EAE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8862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r" rtl="1"/>
            <a:r>
              <a:rPr lang="he-IL" dirty="0"/>
              <a:t>אפשרות אחת </a:t>
            </a:r>
            <a:r>
              <a:rPr lang="he-IL" dirty="0" err="1"/>
              <a:t>להמנע</a:t>
            </a:r>
            <a:r>
              <a:rPr lang="he-IL" dirty="0"/>
              <a:t> מהתלות המעגלית היא להשתמש בעיצוב גנרי. העיצוב הבא אינו ניתן למימוש ב </a:t>
            </a:r>
            <a:r>
              <a:rPr lang="en-US" dirty="0"/>
              <a:t>Java</a:t>
            </a:r>
            <a:r>
              <a:rPr lang="he-IL" dirty="0"/>
              <a:t> מכיוון שלא ניתן לממש את אותו ממשק גנרי באופן מרובה. יחד עם זאת הדבר ניתן בשפות אחרות. לדוגמא ב </a:t>
            </a:r>
            <a:r>
              <a:rPr lang="en-US" dirty="0"/>
              <a:t>C#</a:t>
            </a:r>
            <a:r>
              <a:rPr lang="he-IL" dirty="0"/>
              <a:t> ניתן לכתוב את הקוד הבא:</a:t>
            </a:r>
          </a:p>
          <a:p>
            <a:pPr algn="l" rtl="0"/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using System.IO;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using System;</a:t>
            </a:r>
            <a:br>
              <a:rPr lang="en-US" dirty="0"/>
            </a:b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class Program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static void Main()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UnixModemConfigurator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v = new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UnixModemConfigurator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ZoomModem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z = new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ZoomModem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z.accept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(v);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HayesModem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h = new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HayesModem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h.accept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(v);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ErnieModem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e = new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ErnieModem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e.accept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(v);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Console.WriteLine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z.configurationValue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Console.WriteLine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h.configurationString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Console.WriteLine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e.internalPattern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interface Visitor&lt;T&gt;{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void visit(T modem);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class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UnixModemConfigurator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: Visitor&lt;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ZoomModem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&gt;, Visitor&lt;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HayesModem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&gt;, Visitor&lt;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ErnieModem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public void visit(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ZoomModem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modem){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modem.configurationValue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= 42;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public void visit(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HayesModem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modem){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modem.configurationString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= "&amp;s1=4&amp;D=3";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public void visit(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ErnieModem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modem){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modem.internalPattern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= "C is too slow";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abstract class Modem&lt;T&gt; where T : Modem&lt;T&gt; 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public abstract void accept(Visitor&lt;T&gt; visitor);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class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ZoomModem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: Modem&lt;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ZoomModem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public int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configurationValue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public override void accept(Visitor&lt;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ZoomModem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 visitor){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visitor.visit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(this);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class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HayesModem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: Modem&lt;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HayesModem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public string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configurationString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public override void accept(Visitor&lt;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HayesModem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 visitor){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visitor.visit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(this);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class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ErnieModem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: Modem&lt;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ErnieModem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public string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internalPattern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public override void accept(Visitor&lt;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ErnieModem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&gt; visitor){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    </a:t>
            </a:r>
            <a:r>
              <a:rPr lang="en-US" b="0" i="0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visitor.visit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(this);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   }</a:t>
            </a:r>
            <a:br>
              <a:rPr lang="en-US" dirty="0"/>
            </a:b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}</a:t>
            </a:r>
            <a:endParaRPr lang="en-US" dirty="0"/>
          </a:p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6969AA-9439-471E-9578-E8A340D4EAE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883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כותרת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9" name="כותרת משנה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he-IL"/>
              <a:t>לחץ כדי לערוך סגנון כותרת משנה של תבנית בסיס</a:t>
            </a:r>
            <a:endParaRPr kumimoji="0" lang="en-US"/>
          </a:p>
        </p:txBody>
      </p:sp>
      <p:sp>
        <p:nvSpPr>
          <p:cNvPr id="21" name="מלבן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מלבן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מלבן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מלבן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2" name="תמונה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775" y="2867025"/>
            <a:ext cx="1638300" cy="7810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400" b="1" dirty="0"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בס"ד</a:t>
            </a:r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13" name="תמונה 1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1775" y="2867025"/>
            <a:ext cx="1638300" cy="78105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400" b="1" dirty="0"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בס"ד</a:t>
            </a:r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cs typeface="+mj-cs"/>
              </a:defRPr>
            </a:lvl1pPr>
          </a:lstStyle>
          <a:p>
            <a:r>
              <a:rPr kumimoji="0" lang="he-IL" dirty="0"/>
              <a:t>לחץ כדי לערוך סגנון כותרת של תבנית בסיס</a:t>
            </a:r>
            <a:endParaRPr kumimoji="0"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rtl="1">
              <a:defRPr/>
            </a:lvl1pPr>
          </a:lstStyle>
          <a:p>
            <a:fld id="{8B1C912D-B0E1-4FE6-9EC3-57537027ACD9}" type="datetime9">
              <a:rPr lang="he-IL" smtClean="0"/>
              <a:t>15 דצמבר, 2025</a:t>
            </a:fld>
            <a:endParaRPr lang="en-US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rtl="1">
              <a:defRPr/>
            </a:lvl1pPr>
          </a:lstStyle>
          <a:p>
            <a:r>
              <a:rPr lang="he-IL"/>
              <a:t>עיצוב ותכנות מונחה עצמים להנדסה - </a:t>
            </a:r>
            <a:r>
              <a:rPr lang="en-US"/>
              <a:t>Visitor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  <p:sp>
        <p:nvSpPr>
          <p:cNvPr id="8" name="מציין מיקום תוכן 7"/>
          <p:cNvSpPr>
            <a:spLocks noGrp="1"/>
          </p:cNvSpPr>
          <p:nvPr>
            <p:ph sz="quarter" idx="1" hasCustomPrompt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 marL="274320" indent="-274320">
              <a:lnSpc>
                <a:spcPts val="3120"/>
              </a:lnSpc>
              <a:spcBef>
                <a:spcPts val="18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kumimoji="0" lang="he-IL" sz="2600" kern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8640" indent="-27432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kumimoji="0" lang="he-IL" sz="2300" kern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22960" indent="-228600">
              <a:spcBef>
                <a:spcPts val="0"/>
              </a:spcBef>
              <a:buFont typeface="Arial" panose="020B0604020202020204" pitchFamily="34" charset="0"/>
              <a:buChar char="•"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097280" indent="-228600">
              <a:buFont typeface="Arial" panose="020B0604020202020204" pitchFamily="34" charset="0"/>
              <a:buChar char="•"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371600" indent="-228600">
              <a:buFont typeface="Arial" panose="020B0604020202020204" pitchFamily="34" charset="0"/>
              <a:buChar char="•"/>
              <a:defRPr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</a:lstStyle>
          <a:p>
            <a:pPr lvl="0" eaLnBrk="1" latinLnBrk="0" hangingPunct="1"/>
            <a:r>
              <a:rPr lang="he-IL" dirty="0"/>
              <a:t>לחץ כדי לערוך סגנונות טקסט של תבנית בסיס</a:t>
            </a:r>
          </a:p>
          <a:p>
            <a:pPr marL="548640" lvl="1" indent="-274320" algn="r" rtl="1" eaLnBrk="1" latinLnBrk="0" hangingPunct="1">
              <a:lnSpc>
                <a:spcPts val="3120"/>
              </a:lnSpc>
              <a:spcBef>
                <a:spcPts val="0"/>
              </a:spcBef>
              <a:buClr>
                <a:schemeClr val="accent2"/>
              </a:buClr>
              <a:buSzPct val="76000"/>
              <a:buFont typeface="Arial" panose="020B0604020202020204" pitchFamily="34" charset="0"/>
              <a:buChar char="•"/>
            </a:pPr>
            <a:r>
              <a:rPr lang="he-IL" dirty="0"/>
              <a:t>רמה שנייה</a:t>
            </a:r>
          </a:p>
          <a:p>
            <a:pPr lvl="2" eaLnBrk="1" latinLnBrk="0" hangingPunct="1"/>
            <a:r>
              <a:rPr lang="he-IL" dirty="0"/>
              <a:t>רמה שלישית</a:t>
            </a:r>
          </a:p>
          <a:p>
            <a:pPr lvl="3" eaLnBrk="1" latinLnBrk="0" hangingPunct="1"/>
            <a:r>
              <a:rPr lang="he-IL" dirty="0"/>
              <a:t>רמה רביעית</a:t>
            </a:r>
          </a:p>
          <a:p>
            <a:pPr lvl="4" eaLnBrk="1" latinLnBrk="0" hangingPunct="1"/>
            <a:r>
              <a:rPr lang="he-IL" dirty="0"/>
              <a:t>רמה חמישית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cs typeface="+mj-cs"/>
              </a:defRPr>
            </a:lvl1pPr>
          </a:lstStyle>
          <a:p>
            <a:r>
              <a:rPr kumimoji="0" lang="he-IL"/>
              <a:t>לחץ כדי לערוך סגנון כותרת של תבנית בסיס</a:t>
            </a:r>
            <a:endParaRPr kumimoji="0" lang="en-US" dirty="0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 rtl="1">
              <a:defRPr/>
            </a:lvl1pPr>
          </a:lstStyle>
          <a:p>
            <a:fld id="{0393E51B-1676-4C23-8905-2882007E63F7}" type="datetime9">
              <a:rPr lang="he-IL" smtClean="0"/>
              <a:t>15 דצמבר, 2025</a:t>
            </a:fld>
            <a:endParaRPr lang="en-US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 rtl="1">
              <a:defRPr/>
            </a:lvl1pPr>
          </a:lstStyle>
          <a:p>
            <a:r>
              <a:rPr lang="he-IL"/>
              <a:t>עיצוב ותכנות מונחה עצמים להנדסה - </a:t>
            </a:r>
            <a:r>
              <a:rPr lang="en-US"/>
              <a:t>Visitor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1368733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כותרת מקטע עליונה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pPr eaLnBrk="1" latinLnBrk="0" hangingPunct="1"/>
            <a:fld id="{B574C864-9E02-4344-BB6C-24C8DFECEC3E}" type="datetime9">
              <a:rPr lang="he-IL" smtClean="0"/>
              <a:t>15 דצמבר, 2025</a:t>
            </a:fld>
            <a:endParaRPr lang="en-US" dirty="0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r>
              <a:rPr kumimoji="0" lang="he-IL"/>
              <a:t>עיצוב ותכנות מונחה עצמים להנדסה - </a:t>
            </a:r>
            <a:r>
              <a:rPr kumimoji="0" lang="en-US"/>
              <a:t>Visitor</a:t>
            </a:r>
            <a:endParaRPr kumimoji="0" lang="en-US" dirty="0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 dirty="0"/>
          </a:p>
        </p:txBody>
      </p:sp>
      <p:sp>
        <p:nvSpPr>
          <p:cNvPr id="7" name="מלבן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מלבן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50AF05F3-558C-4425-B6BB-F554B7F65267}" type="datetime9">
              <a:rPr lang="he-IL" smtClean="0"/>
              <a:t>15 דצמבר, 2025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he-IL"/>
              <a:t>עיצוב ותכנות מונחה עצמים להנדסה - </a:t>
            </a:r>
            <a:r>
              <a:rPr kumimoji="0" lang="en-US"/>
              <a:t>Visitor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9" name="מציין מיקום תוכן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11" name="מציין מיקום תוכן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8EAB6E67-392A-445D-A5DD-EC3E115C8963}" type="datetime9">
              <a:rPr lang="he-IL" smtClean="0"/>
              <a:t>15 דצמבר, 2025</a:t>
            </a:fld>
            <a:endParaRPr lang="en-US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he-IL"/>
              <a:t>עיצוב ותכנות מונחה עצמים להנדסה - </a:t>
            </a:r>
            <a:r>
              <a:rPr lang="en-US"/>
              <a:t>Visitor</a:t>
            </a:r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11" name="מציין מיקום תוכן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13" name="מציין מיקום תוכן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רק תת-כותרת במרכ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8CB351F4-DAF5-400A-A140-6C2C3A433E95}" type="datetime9">
              <a:rPr lang="he-IL" smtClean="0"/>
              <a:t>15 דצמבר, 2025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he-IL"/>
              <a:t>עיצוב ותכנות מונחה עצמים להנדסה - </a:t>
            </a:r>
            <a:r>
              <a:rPr kumimoji="0" lang="en-US"/>
              <a:t>Visitor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5" name="מחבר ישר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משולש שווה שוקיים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כותרת 1"/>
          <p:cNvSpPr>
            <a:spLocks noGrp="1"/>
          </p:cNvSpPr>
          <p:nvPr>
            <p:ph type="title"/>
          </p:nvPr>
        </p:nvSpPr>
        <p:spPr>
          <a:xfrm>
            <a:off x="457200" y="2586608"/>
            <a:ext cx="8229600" cy="914400"/>
          </a:xfr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anchor="ctr"/>
          <a:lstStyle>
            <a:lvl1pPr algn="ctr">
              <a:defRPr b="1"/>
            </a:lvl1pPr>
          </a:lstStyle>
          <a:p>
            <a:r>
              <a:rPr kumimoji="0" lang="he-IL"/>
              <a:t>לחץ כדי לערוך סגנון כותרת של תבנית בסיס</a:t>
            </a:r>
            <a:endParaRPr kumimoji="0" lang="en-US" dirty="0"/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" y="8389"/>
            <a:ext cx="1113676" cy="5309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400" b="1" dirty="0"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בס"ד</a:t>
            </a:r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10" name="תמונה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" y="8389"/>
            <a:ext cx="1113676" cy="53093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400" b="1" dirty="0"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בס"ד</a:t>
            </a:r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E51156D2-0F67-4F9C-8C01-4682AE04195D}" type="datetime9">
              <a:rPr lang="he-IL" smtClean="0"/>
              <a:t>15 דצמבר, 2025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he-IL"/>
              <a:t>עיצוב ותכנות מונחה עצמים להנדסה - </a:t>
            </a:r>
            <a:r>
              <a:rPr kumimoji="0" lang="en-US"/>
              <a:t>Visitor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5" name="מחבר ישר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משולש שווה שוקיים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7" name="תמונה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" y="8389"/>
            <a:ext cx="1113676" cy="5309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400" b="1" dirty="0"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בס"ד</a:t>
            </a:r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9" name="תמונה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" y="8389"/>
            <a:ext cx="1113676" cy="53093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400" b="1" dirty="0"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בס"ד</a:t>
            </a:r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3725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F31F8DE8-1640-4296-BE00-B59E8374752B}" type="datetime9">
              <a:rPr lang="he-IL" smtClean="0"/>
              <a:t>15 דצמבר, 2025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he-IL"/>
              <a:t>עיצוב ותכנות מונחה עצמים להנדסה - </a:t>
            </a:r>
            <a:r>
              <a:rPr kumimoji="0" lang="en-US"/>
              <a:t>Visitor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8" name="מחבר ישר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מחבר ישר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משולש שווה שוקיים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מציין מיקום תוכן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תמונה עם כיתוב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he-IL"/>
              <a:t>לחץ על הסמל כדי להוסיף תמונה</a:t>
            </a:r>
            <a:endParaRPr kumimoji="0" lang="en-US" dirty="0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312921C2-1584-482F-A6A4-2DA13058D3B2}" type="datetime9">
              <a:rPr lang="he-IL" smtClean="0"/>
              <a:t>15 דצמבר, 2025</a:t>
            </a:fld>
            <a:endParaRPr lang="en-US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he-IL"/>
              <a:t>עיצוב ותכנות מונחה עצמים להנדסה - </a:t>
            </a:r>
            <a:r>
              <a:rPr kumimoji="0" lang="en-US"/>
              <a:t>Visitor</a:t>
            </a: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8" name="מחבר ישר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משולש שווה שוקיים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מלבן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DC38D42F-C8E2-4F4A-ABAF-295F883B2979}" type="datetime9">
              <a:rPr lang="he-IL" smtClean="0"/>
              <a:t>15 דצמבר, 2025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he-IL"/>
              <a:t>עיצוב ותכנות מונחה עצמים להנדסה - </a:t>
            </a:r>
            <a:r>
              <a:rPr kumimoji="0" lang="en-US"/>
              <a:t>Visitor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he-IL"/>
              <a:t>לחץ כדי לערוך סגנונות טקסט של תבנית בסיס</a:t>
            </a:r>
          </a:p>
          <a:p>
            <a:pPr lvl="1" eaLnBrk="1" latinLnBrk="0" hangingPunct="1"/>
            <a:r>
              <a:rPr lang="he-IL"/>
              <a:t>רמה שנייה</a:t>
            </a:r>
          </a:p>
          <a:p>
            <a:pPr lvl="2" eaLnBrk="1" latinLnBrk="0" hangingPunct="1"/>
            <a:r>
              <a:rPr lang="he-IL"/>
              <a:t>רמה שלישית</a:t>
            </a:r>
          </a:p>
          <a:p>
            <a:pPr lvl="3" eaLnBrk="1" latinLnBrk="0" hangingPunct="1"/>
            <a:r>
              <a:rPr lang="he-IL"/>
              <a:t>רמה רביעית</a:t>
            </a:r>
          </a:p>
          <a:p>
            <a:pPr lvl="4" eaLnBrk="1" latinLnBrk="0" hangingPunct="1"/>
            <a:r>
              <a:rPr lang="he-IL"/>
              <a:t>רמה חמישית</a:t>
            </a:r>
            <a:endParaRPr kumimoji="0" lang="en-US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7D00DA1B-77D8-4B1B-8C06-73A1FC210107}" type="datetime9">
              <a:rPr lang="he-IL" smtClean="0"/>
              <a:t>15 דצמבר, 2025</a:t>
            </a:fld>
            <a:endParaRPr lang="en-US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he-IL"/>
              <a:t>עיצוב ותכנות מונחה עצמים להנדסה - </a:t>
            </a:r>
            <a:r>
              <a:rPr kumimoji="0" lang="en-US"/>
              <a:t>Visitor</a:t>
            </a: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7" name="מחבר ישר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משולש שווה שוקיים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מחבר ישר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רק תת-כותרת במרכז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1" latinLnBrk="0" hangingPunct="1"/>
            <a:fld id="{4D962170-6A08-4E27-A26E-89D19D009C62}" type="datetime9">
              <a:rPr lang="he-IL" smtClean="0"/>
              <a:t>15 דצמבר, 2025</a:t>
            </a:fld>
            <a:endParaRPr lang="en-US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he-IL"/>
              <a:t>עיצוב ותכנות מונחה עצמים להנדסה - </a:t>
            </a:r>
            <a:r>
              <a:rPr kumimoji="0" lang="en-US"/>
              <a:t>Visitor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7C8D44-3667-46F6-9772-CC52308E2A7F}" type="slidenum">
              <a:rPr kumimoji="0" lang="en-US" smtClean="0"/>
              <a:pPr eaLnBrk="1" latinLnBrk="0" hangingPunct="1"/>
              <a:t>‹#›</a:t>
            </a:fld>
            <a:endParaRPr kumimoji="0" lang="en-US"/>
          </a:p>
        </p:txBody>
      </p:sp>
      <p:sp>
        <p:nvSpPr>
          <p:cNvPr id="5" name="מחבר ישר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משולש שווה שוקיים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כותרת 1"/>
          <p:cNvSpPr>
            <a:spLocks noGrp="1"/>
          </p:cNvSpPr>
          <p:nvPr>
            <p:ph type="title"/>
          </p:nvPr>
        </p:nvSpPr>
        <p:spPr>
          <a:xfrm>
            <a:off x="457200" y="2586608"/>
            <a:ext cx="8229600" cy="914400"/>
          </a:xfr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  <a:effectLst>
            <a:glow rad="228600">
              <a:schemeClr val="accent5">
                <a:satMod val="175000"/>
                <a:alpha val="40000"/>
              </a:schemeClr>
            </a:glow>
          </a:effectLst>
        </p:spPr>
        <p:txBody>
          <a:bodyPr anchor="ctr"/>
          <a:lstStyle>
            <a:lvl1pPr algn="ctr">
              <a:defRPr b="1"/>
            </a:lvl1pPr>
          </a:lstStyle>
          <a:p>
            <a:r>
              <a:rPr kumimoji="0" lang="he-IL"/>
              <a:t>לחץ כדי לערוך סגנון כותרת של תבנית בסיס</a:t>
            </a:r>
            <a:endParaRPr kumimoji="0" lang="en-US" dirty="0"/>
          </a:p>
        </p:txBody>
      </p:sp>
      <p:pic>
        <p:nvPicPr>
          <p:cNvPr id="8" name="תמונה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" y="8389"/>
            <a:ext cx="1113676" cy="53093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400" b="1" dirty="0"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בס"ד</a:t>
            </a:r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pic>
        <p:nvPicPr>
          <p:cNvPr id="10" name="תמונה 9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" y="8389"/>
            <a:ext cx="1113676" cy="53093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400" b="1" dirty="0"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בס"ד</a:t>
            </a:r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מציין מיקום של כותרת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13" name="מציין מיקום טקסט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e-IL" dirty="0"/>
              <a:t>לחץ כדי לערוך סגנונות טקסט של תבנית בסיס</a:t>
            </a:r>
          </a:p>
          <a:p>
            <a:pPr lvl="1" eaLnBrk="1" latinLnBrk="0" hangingPunct="1"/>
            <a:r>
              <a:rPr kumimoji="0" lang="he-IL" dirty="0"/>
              <a:t>רמה שנייה</a:t>
            </a:r>
          </a:p>
          <a:p>
            <a:pPr lvl="2" eaLnBrk="1" latinLnBrk="0" hangingPunct="1"/>
            <a:r>
              <a:rPr kumimoji="0" lang="he-IL" dirty="0"/>
              <a:t>רמה שלישית</a:t>
            </a:r>
          </a:p>
          <a:p>
            <a:pPr lvl="3" eaLnBrk="1" latinLnBrk="0" hangingPunct="1"/>
            <a:r>
              <a:rPr kumimoji="0" lang="he-IL" dirty="0"/>
              <a:t>רמה רביעית</a:t>
            </a:r>
          </a:p>
          <a:p>
            <a:pPr lvl="4" eaLnBrk="1" latinLnBrk="0" hangingPunct="1"/>
            <a:r>
              <a:rPr kumimoji="0" lang="he-IL" dirty="0"/>
              <a:t>רמה חמישית</a:t>
            </a:r>
            <a:endParaRPr kumimoji="0" lang="en-US" dirty="0"/>
          </a:p>
        </p:txBody>
      </p:sp>
      <p:sp>
        <p:nvSpPr>
          <p:cNvPr id="14" name="מציין מיקום של תאריך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58D7FDD0-4F1D-4074-92F4-DEE6EB2FE1C6}" type="datetime9">
              <a:rPr lang="he-IL" smtClean="0"/>
              <a:t>15 דצמבר, 2025</a:t>
            </a:fld>
            <a:endParaRPr lang="en-US" dirty="0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ct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he-IL"/>
              <a:t>עיצוב ותכנות מונחה עצמים להנדסה - </a:t>
            </a:r>
            <a:r>
              <a:rPr lang="en-US"/>
              <a:t>Visitor</a:t>
            </a:r>
            <a:endParaRPr lang="en-US" dirty="0"/>
          </a:p>
        </p:txBody>
      </p:sp>
      <p:sp>
        <p:nvSpPr>
          <p:cNvPr id="23" name="מציין מיקום של מספר שקופית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מחבר ישר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מחבר ישר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משולש שווה שוקיים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11" name="תמונה 10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" y="8389"/>
            <a:ext cx="1113676" cy="53093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400" b="1" dirty="0"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בס"ד</a:t>
            </a:r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hdr="0"/>
  <p:txStyles>
    <p:titleStyle>
      <a:lvl1pPr algn="r" rtl="1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r" rtl="1" eaLnBrk="1" latinLnBrk="0" hangingPunct="1">
        <a:spcBef>
          <a:spcPts val="600"/>
        </a:spcBef>
        <a:spcAft>
          <a:spcPts val="2400"/>
        </a:spcAft>
        <a:buClr>
          <a:schemeClr val="accent1"/>
        </a:buClr>
        <a:buSzPct val="76000"/>
        <a:buFont typeface="Wingdings 3"/>
        <a:buChar char=""/>
        <a:defRPr kumimoji="0" sz="2600" kern="1200">
          <a:solidFill>
            <a:srgbClr val="002060"/>
          </a:solidFill>
          <a:latin typeface="+mn-lt"/>
          <a:ea typeface="+mn-ea"/>
          <a:cs typeface="+mn-cs"/>
        </a:defRPr>
      </a:lvl1pPr>
      <a:lvl2pPr marL="548640" indent="-274320" algn="r" rtl="1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r" rtl="1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r" rtl="1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r" rtl="1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מציין מיקום של כותרת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he-IL"/>
              <a:t>לחץ כדי לערוך סגנון כותרת של תבנית בסיס</a:t>
            </a:r>
            <a:endParaRPr kumimoji="0" lang="en-US"/>
          </a:p>
        </p:txBody>
      </p:sp>
      <p:sp>
        <p:nvSpPr>
          <p:cNvPr id="13" name="מציין מיקום טקסט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he-IL" dirty="0"/>
              <a:t>לחץ כדי לערוך סגנונות טקסט של תבנית בסיס</a:t>
            </a:r>
          </a:p>
          <a:p>
            <a:pPr lvl="1" eaLnBrk="1" latinLnBrk="0" hangingPunct="1"/>
            <a:r>
              <a:rPr kumimoji="0" lang="he-IL" dirty="0"/>
              <a:t>רמה שנייה</a:t>
            </a:r>
          </a:p>
          <a:p>
            <a:pPr lvl="2" eaLnBrk="1" latinLnBrk="0" hangingPunct="1"/>
            <a:r>
              <a:rPr kumimoji="0" lang="he-IL" dirty="0"/>
              <a:t>רמה שלישית</a:t>
            </a:r>
          </a:p>
          <a:p>
            <a:pPr lvl="3" eaLnBrk="1" latinLnBrk="0" hangingPunct="1"/>
            <a:r>
              <a:rPr kumimoji="0" lang="he-IL" dirty="0"/>
              <a:t>רמה רביעית</a:t>
            </a:r>
          </a:p>
          <a:p>
            <a:pPr lvl="4" eaLnBrk="1" latinLnBrk="0" hangingPunct="1"/>
            <a:r>
              <a:rPr kumimoji="0" lang="he-IL" dirty="0"/>
              <a:t>רמה חמישית</a:t>
            </a:r>
            <a:endParaRPr kumimoji="0" lang="en-US" dirty="0"/>
          </a:p>
        </p:txBody>
      </p:sp>
      <p:sp>
        <p:nvSpPr>
          <p:cNvPr id="14" name="מציין מיקום של תאריך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D3172C3F-F78A-450E-826A-91E6D79C2499}" type="datetime9">
              <a:rPr lang="he-IL" smtClean="0"/>
              <a:t>15 דצמבר, 2025</a:t>
            </a:fld>
            <a:endParaRPr lang="en-US" dirty="0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ct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he-IL"/>
              <a:t>עיצוב ותכנות מונחה עצמים להנדסה - </a:t>
            </a:r>
            <a:r>
              <a:rPr lang="en-US"/>
              <a:t>Visitor</a:t>
            </a:r>
            <a:endParaRPr lang="en-US" dirty="0"/>
          </a:p>
        </p:txBody>
      </p:sp>
      <p:sp>
        <p:nvSpPr>
          <p:cNvPr id="23" name="מציין מיקום של מספר שקופית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pPr algn="l" eaLnBrk="1" latinLnBrk="0" hangingPunct="1"/>
            <a:fld id="{EA7C8D44-3667-46F6-9772-CC52308E2A7F}" type="slidenum">
              <a:rPr kumimoji="0" lang="en-US" smtClean="0"/>
              <a:pPr algn="l" eaLnBrk="1" latinLnBrk="0" hangingPunct="1"/>
              <a:t>‹#›</a:t>
            </a:fld>
            <a:endParaRPr kumimoji="0" lang="en-US" sz="1600" dirty="0">
              <a:solidFill>
                <a:schemeClr val="tx2"/>
              </a:solidFill>
            </a:endParaRPr>
          </a:p>
        </p:txBody>
      </p:sp>
      <p:sp>
        <p:nvSpPr>
          <p:cNvPr id="28" name="מחבר ישר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מחבר ישר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משולש שווה שוקיים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pic>
        <p:nvPicPr>
          <p:cNvPr id="11" name="תמונה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0" y="8389"/>
            <a:ext cx="1113676" cy="530939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8582254" y="9755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sz="1400" b="1" dirty="0">
                <a:solidFill>
                  <a:srgbClr val="0070C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בס"ד</a:t>
            </a:r>
            <a:endParaRPr lang="en-US" sz="1400" b="1" dirty="0">
              <a:solidFill>
                <a:srgbClr val="0070C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</p:sldLayoutIdLst>
  <p:hf hdr="0"/>
  <p:txStyles>
    <p:titleStyle>
      <a:lvl1pPr algn="r" rtl="1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r" rtl="1" eaLnBrk="1" latinLnBrk="0" hangingPunct="1">
        <a:spcBef>
          <a:spcPts val="600"/>
        </a:spcBef>
        <a:spcAft>
          <a:spcPts val="2400"/>
        </a:spcAft>
        <a:buClr>
          <a:schemeClr val="accent1"/>
        </a:buClr>
        <a:buSzPct val="76000"/>
        <a:buFont typeface="Wingdings 3"/>
        <a:buChar char=""/>
        <a:defRPr kumimoji="0" sz="2600" kern="1200">
          <a:solidFill>
            <a:srgbClr val="002060"/>
          </a:solidFill>
          <a:latin typeface="+mn-lt"/>
          <a:ea typeface="+mn-ea"/>
          <a:cs typeface="+mn-cs"/>
        </a:defRPr>
      </a:lvl1pPr>
      <a:lvl2pPr marL="548640" indent="-274320" algn="r" rtl="1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r" rtl="1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r" rtl="1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r" rtl="1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8" Type="http://schemas.openxmlformats.org/officeDocument/2006/relationships/customXml" Target="../ink/ink3.xml"/><Relationship Id="rId51" Type="http://schemas.openxmlformats.org/officeDocument/2006/relationships/image" Target="../media/image26.png"/><Relationship Id="rId3" Type="http://schemas.openxmlformats.org/officeDocument/2006/relationships/image" Target="../media/image9.emf"/><Relationship Id="rId17" Type="http://schemas.openxmlformats.org/officeDocument/2006/relationships/image" Target="../media/image10.png"/><Relationship Id="rId38" Type="http://schemas.openxmlformats.org/officeDocument/2006/relationships/customXml" Target="../ink/ink4.xml"/><Relationship Id="rId2" Type="http://schemas.openxmlformats.org/officeDocument/2006/relationships/notesSlide" Target="../notesSlides/notesSlide3.xml"/><Relationship Id="rId16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37" Type="http://schemas.openxmlformats.org/officeDocument/2006/relationships/image" Target="../media/image19.png"/><Relationship Id="rId53" Type="http://schemas.openxmlformats.org/officeDocument/2006/relationships/image" Target="../media/image27.png"/><Relationship Id="rId15" Type="http://schemas.openxmlformats.org/officeDocument/2006/relationships/image" Target="../media/image9.png"/><Relationship Id="rId52" Type="http://schemas.openxmlformats.org/officeDocument/2006/relationships/customXml" Target="../ink/ink5.xml"/><Relationship Id="rId4" Type="http://schemas.openxmlformats.org/officeDocument/2006/relationships/customXml" Target="../ink/ink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618E2-16BA-4622-9B82-4ABAEAF74B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he-IL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ותִכנוּת מונחי עצמים להנדסה</a:t>
            </a:r>
            <a:br>
              <a:rPr lang="he-IL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he-IL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מספר קורס: </a:t>
            </a:r>
            <a:r>
              <a:rPr lang="en-US" sz="32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157109</a:t>
            </a:r>
            <a:r>
              <a:rPr lang="he-IL"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he-IL" sz="32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endParaRPr lang="he-IL" b="1" dirty="0"/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8ECA9442-7A29-4CB2-9FE8-DFBD462C2587}"/>
              </a:ext>
            </a:extLst>
          </p:cNvPr>
          <p:cNvSpPr txBox="1"/>
          <p:nvPr/>
        </p:nvSpPr>
        <p:spPr>
          <a:xfrm>
            <a:off x="251520" y="3717032"/>
            <a:ext cx="8229600" cy="576064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pPr algn="ctr" rtl="1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he-IL" sz="3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8344E5-41F7-49BD-BFDC-89F94DDE420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 Pattern</a:t>
            </a: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297028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הגדרה והצורך בתבנית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18FBEFA4-651F-4CFC-AFBF-36FFE6209713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286944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2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0C9B009-087E-4C9C-95B7-9A75397114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he-IL" dirty="0"/>
              <a:t>התבנית היא תבנית עיצוב </a:t>
            </a:r>
            <a:r>
              <a:rPr lang="he-IL" u="sng" dirty="0"/>
              <a:t>התנהגותית</a:t>
            </a:r>
          </a:p>
          <a:p>
            <a:r>
              <a:rPr lang="he-IL" dirty="0"/>
              <a:t>הצורך שהתבנית באה לפתור:</a:t>
            </a:r>
          </a:p>
          <a:p>
            <a:pPr lvl="1"/>
            <a:r>
              <a:rPr lang="he-IL" dirty="0"/>
              <a:t>הגדרה של פעולה חדשה למחלקות ממשפחה מסוימת בלי לשנות את המחלקות עצמן.</a:t>
            </a:r>
          </a:p>
          <a:p>
            <a:pPr lvl="1"/>
            <a:r>
              <a:rPr lang="he-IL" dirty="0"/>
              <a:t>הוספת יכולות (מעבר לאחריות של האפליקציה)</a:t>
            </a:r>
            <a:r>
              <a:rPr lang="en-US" dirty="0"/>
              <a:t> </a:t>
            </a:r>
            <a:r>
              <a:rPr lang="he-IL" dirty="0"/>
              <a:t>לעץ ירושה או עץ מבני בלי לשנות את האפליקציה, ע"י פיתוח מחלקות מן הצד, שהאפליקציה לא צריכה להכיר.</a:t>
            </a:r>
            <a:r>
              <a:rPr lang="he-IL" sz="2800" dirty="0"/>
              <a:t> </a:t>
            </a:r>
          </a:p>
          <a:p>
            <a:pPr marL="274320" lvl="1" indent="0">
              <a:buNone/>
            </a:pPr>
            <a:endParaRPr lang="he-IL" sz="2800" dirty="0"/>
          </a:p>
          <a:p>
            <a:pPr marL="274320" lvl="1" indent="0">
              <a:buNone/>
            </a:pPr>
            <a:r>
              <a:rPr lang="he-IL" sz="2800" dirty="0"/>
              <a:t>תבנית זו תעזור למנוע הפרה של </a:t>
            </a:r>
            <a:r>
              <a:rPr lang="en-US" sz="2800" dirty="0"/>
              <a:t>OCP</a:t>
            </a:r>
            <a:r>
              <a:rPr lang="he-IL" sz="2800" dirty="0"/>
              <a:t> הנובעת מהפרת </a:t>
            </a:r>
            <a:r>
              <a:rPr lang="en-US" sz="2800" dirty="0"/>
              <a:t>Single Responsibility Principle</a:t>
            </a:r>
            <a:r>
              <a:rPr lang="he-IL" sz="2800" dirty="0"/>
              <a:t>.</a:t>
            </a:r>
            <a:endParaRPr lang="en-US" sz="2800" dirty="0"/>
          </a:p>
          <a:p>
            <a:pPr lvl="1"/>
            <a:endParaRPr lang="he-IL" dirty="0"/>
          </a:p>
          <a:p>
            <a:pPr lv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175296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 Pattern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A554BDBF-FF3C-4B4A-964F-89AA69DFEC3F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286944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3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Subtitle 6">
            <a:extLst>
              <a:ext uri="{FF2B5EF4-FFF2-40B4-BE49-F238E27FC236}">
                <a16:creationId xmlns:a16="http://schemas.microsoft.com/office/drawing/2014/main" id="{45BCB7B4-95EE-4970-B237-ADF66C3D3477}"/>
              </a:ext>
            </a:extLst>
          </p:cNvPr>
          <p:cNvSpPr txBox="1">
            <a:spLocks/>
          </p:cNvSpPr>
          <p:nvPr/>
        </p:nvSpPr>
        <p:spPr>
          <a:xfrm>
            <a:off x="1371600" y="1682520"/>
            <a:ext cx="6400800" cy="1170416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r" rtl="1" eaLnBrk="1" latinLnBrk="0" hangingPunct="1">
              <a:lnSpc>
                <a:spcPts val="3120"/>
              </a:lnSpc>
              <a:spcBef>
                <a:spcPts val="1800"/>
              </a:spcBef>
              <a:spcAft>
                <a:spcPts val="0"/>
              </a:spcAft>
              <a:buClr>
                <a:schemeClr val="accent1"/>
              </a:buClr>
              <a:buSzPct val="76000"/>
              <a:buFont typeface="Arial" panose="020B0604020202020204" pitchFamily="34" charset="0"/>
              <a:buChar char="•"/>
              <a:defRPr kumimoji="0" lang="he-IL" sz="2600" kern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548640" indent="-274320" algn="r" rtl="1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accent2"/>
              </a:buClr>
              <a:buSzPct val="76000"/>
              <a:buFont typeface="Arial" panose="020B0604020202020204" pitchFamily="34" charset="0"/>
              <a:buChar char="•"/>
              <a:defRPr kumimoji="0" lang="he-IL" sz="2300" kern="12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2pPr>
            <a:lvl3pPr marL="822960" indent="-228600" algn="r" rtl="1" eaLnBrk="1" latinLnBrk="0" hangingPunct="1">
              <a:spcBef>
                <a:spcPts val="0"/>
              </a:spcBef>
              <a:buClr>
                <a:schemeClr val="bg1">
                  <a:shade val="50000"/>
                </a:schemeClr>
              </a:buClr>
              <a:buSzPct val="76000"/>
              <a:buFont typeface="Arial" panose="020B0604020202020204" pitchFamily="34" charset="0"/>
              <a:buChar char="•"/>
              <a:defRPr kumimoji="0" sz="20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3pPr>
            <a:lvl4pPr marL="1097280" indent="-228600" algn="r" rtl="1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Arial" panose="020B0604020202020204" pitchFamily="34" charset="0"/>
              <a:buChar char="•"/>
              <a:defRPr kumimoji="0" sz="18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4pPr>
            <a:lvl5pPr marL="1371600" indent="-228600" algn="r" rtl="1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Arial" panose="020B0604020202020204" pitchFamily="34" charset="0"/>
              <a:buChar char="•"/>
              <a:defRPr kumimoji="0" sz="1600" kern="120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he-IL" sz="3200" dirty="0"/>
              <a:t>מקרה בוחן:</a:t>
            </a:r>
          </a:p>
          <a:p>
            <a:pPr marL="0" indent="0" algn="ctr">
              <a:buNone/>
            </a:pPr>
            <a:r>
              <a:rPr lang="he-IL" sz="3200" dirty="0"/>
              <a:t>מודם</a:t>
            </a:r>
          </a:p>
        </p:txBody>
      </p:sp>
      <p:pic>
        <p:nvPicPr>
          <p:cNvPr id="14" name="Picture 4" descr="Image result for modem">
            <a:extLst>
              <a:ext uri="{FF2B5EF4-FFF2-40B4-BE49-F238E27FC236}">
                <a16:creationId xmlns:a16="http://schemas.microsoft.com/office/drawing/2014/main" id="{77745F58-2B57-496C-85D6-60D4BF4A8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5230" y="2928385"/>
            <a:ext cx="3737156" cy="2660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9030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2025F2E-7927-4F59-8C72-F618285D1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080715"/>
            <a:ext cx="7565766" cy="40454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Dial-up Modem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47B02D53-8A9B-413A-B659-C5743400C6CC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286944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4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A9207FF-3DCA-C58D-0F6F-BCDCA534A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80112" y="1373187"/>
            <a:ext cx="3466728" cy="2991917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he-IL" dirty="0">
                <a:highlight>
                  <a:srgbClr val="FFFF00"/>
                </a:highlight>
              </a:rPr>
              <a:t>הבעיה במודל הקיים</a:t>
            </a:r>
          </a:p>
          <a:p>
            <a:pPr marL="274320" lvl="1" indent="0">
              <a:buNone/>
            </a:pPr>
            <a:r>
              <a:rPr lang="he-IL" dirty="0"/>
              <a:t>האחריות של </a:t>
            </a:r>
            <a:r>
              <a:rPr lang="en-US" dirty="0"/>
              <a:t>Modem</a:t>
            </a:r>
            <a:r>
              <a:rPr lang="he-IL" dirty="0"/>
              <a:t> היא </a:t>
            </a:r>
            <a:r>
              <a:rPr lang="he-IL" dirty="0">
                <a:solidFill>
                  <a:srgbClr val="FF0000"/>
                </a:solidFill>
              </a:rPr>
              <a:t>לספק פונקציות תקשורת</a:t>
            </a:r>
            <a:r>
              <a:rPr lang="he-IL" dirty="0"/>
              <a:t>.</a:t>
            </a:r>
          </a:p>
          <a:p>
            <a:pPr marL="274320" lvl="1" indent="0">
              <a:buNone/>
            </a:pPr>
            <a:r>
              <a:rPr lang="he-IL" dirty="0"/>
              <a:t>מאידך, יש צורך להתאים אותו למערכות הפעלות שונות - </a:t>
            </a:r>
            <a:r>
              <a:rPr lang="he-IL" dirty="0">
                <a:solidFill>
                  <a:srgbClr val="FF0000"/>
                </a:solidFill>
              </a:rPr>
              <a:t>ההתאמה היא מעבר לאחריות ה </a:t>
            </a:r>
            <a:r>
              <a:rPr lang="en-US" dirty="0">
                <a:solidFill>
                  <a:srgbClr val="FF0000"/>
                </a:solidFill>
              </a:rPr>
              <a:t>Modem</a:t>
            </a:r>
            <a:r>
              <a:rPr lang="he-IL" dirty="0"/>
              <a:t>, ולכן צריך פתרון המאפשר התאמות שכאלו </a:t>
            </a:r>
            <a:r>
              <a:rPr lang="he-IL" dirty="0">
                <a:solidFill>
                  <a:srgbClr val="FF0000"/>
                </a:solidFill>
              </a:rPr>
              <a:t>בלי לשנות את אפליקציית </a:t>
            </a:r>
            <a:r>
              <a:rPr lang="en-US" dirty="0">
                <a:solidFill>
                  <a:srgbClr val="FF0000"/>
                </a:solidFill>
              </a:rPr>
              <a:t>Modem</a:t>
            </a:r>
            <a:r>
              <a:rPr lang="he-IL" dirty="0">
                <a:solidFill>
                  <a:srgbClr val="FF0000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6994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8219634C-3F38-41EC-8DE0-27EBD39D41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756" y="1103656"/>
            <a:ext cx="6106043" cy="360134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Dial-up Modem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D3A45E33-75A3-4126-9765-3498966E5759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286944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5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5BA7BE7B-6C03-447B-A8E0-ABB58944A56F}"/>
              </a:ext>
            </a:extLst>
          </p:cNvPr>
          <p:cNvSpPr txBox="1"/>
          <p:nvPr/>
        </p:nvSpPr>
        <p:spPr>
          <a:xfrm>
            <a:off x="5796136" y="2132856"/>
            <a:ext cx="2261839" cy="40011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פונקציות תקשורת </a:t>
            </a:r>
          </a:p>
        </p:txBody>
      </p:sp>
      <p:sp>
        <p:nvSpPr>
          <p:cNvPr id="12" name="TextBox 18">
            <a:extLst>
              <a:ext uri="{FF2B5EF4-FFF2-40B4-BE49-F238E27FC236}">
                <a16:creationId xmlns:a16="http://schemas.microsoft.com/office/drawing/2014/main" id="{26047379-FB92-44DB-A9EE-AE67C042C309}"/>
              </a:ext>
            </a:extLst>
          </p:cNvPr>
          <p:cNvSpPr txBox="1"/>
          <p:nvPr/>
        </p:nvSpPr>
        <p:spPr>
          <a:xfrm>
            <a:off x="0" y="5538497"/>
            <a:ext cx="2880320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0" i="0" u="none" strike="noStrike" baseline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m.configurationValue</a:t>
            </a:r>
            <a:r>
              <a:rPr lang="en-US" sz="1600" b="0" i="0" u="none" strike="noStrike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42;</a:t>
            </a:r>
            <a:endParaRPr lang="he-IL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TextBox 15">
            <a:extLst>
              <a:ext uri="{FF2B5EF4-FFF2-40B4-BE49-F238E27FC236}">
                <a16:creationId xmlns:a16="http://schemas.microsoft.com/office/drawing/2014/main" id="{9C5CFBE4-2A8C-4487-B3BB-F9B596B8D59C}"/>
              </a:ext>
            </a:extLst>
          </p:cNvPr>
          <p:cNvSpPr txBox="1"/>
          <p:nvPr/>
        </p:nvSpPr>
        <p:spPr>
          <a:xfrm>
            <a:off x="2403705" y="5970581"/>
            <a:ext cx="4080204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0" i="0" u="none" strike="noStrike" baseline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m.configurationString</a:t>
            </a:r>
            <a:r>
              <a:rPr lang="en-US" sz="1600" b="0" i="0" u="none" strike="noStrike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"&amp;s1=4&amp;D=3";</a:t>
            </a:r>
            <a:endParaRPr lang="he-IL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2A981EA0-8502-46ED-8AEC-BA492726FD2A}"/>
              </a:ext>
            </a:extLst>
          </p:cNvPr>
          <p:cNvSpPr txBox="1"/>
          <p:nvPr/>
        </p:nvSpPr>
        <p:spPr>
          <a:xfrm>
            <a:off x="5724128" y="5538497"/>
            <a:ext cx="3384376" cy="3385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0" i="0" u="none" strike="noStrike" baseline="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m.internalPattern</a:t>
            </a:r>
            <a:r>
              <a:rPr lang="en-US" sz="1600" b="0" i="0" u="none" strike="noStrike" baseline="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= "C is too slow";</a:t>
            </a:r>
            <a:endParaRPr lang="he-IL" sz="16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F49AA582-645E-4B70-9761-19408EA67553}"/>
              </a:ext>
            </a:extLst>
          </p:cNvPr>
          <p:cNvSpPr txBox="1"/>
          <p:nvPr/>
        </p:nvSpPr>
        <p:spPr>
          <a:xfrm>
            <a:off x="3135624" y="4924164"/>
            <a:ext cx="2880320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1"/>
            <a:r>
              <a:rPr lang="he-IL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תוספות קונפיגורציה עבור </a:t>
            </a:r>
            <a:r>
              <a:rPr lang="en-US" sz="20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UNIX</a:t>
            </a:r>
            <a:endParaRPr lang="he-IL" sz="20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E5B873BC-7E33-4F4D-883A-E06FAE25F18A}"/>
              </a:ext>
            </a:extLst>
          </p:cNvPr>
          <p:cNvCxnSpPr>
            <a:cxnSpLocks/>
          </p:cNvCxnSpPr>
          <p:nvPr/>
        </p:nvCxnSpPr>
        <p:spPr>
          <a:xfrm flipV="1">
            <a:off x="756120" y="4221088"/>
            <a:ext cx="972108" cy="1368152"/>
          </a:xfrm>
          <a:prstGeom prst="straightConnector1">
            <a:avLst/>
          </a:prstGeom>
          <a:ln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3EBEE26-96C7-4653-96AD-8111B4740407}"/>
              </a:ext>
            </a:extLst>
          </p:cNvPr>
          <p:cNvCxnSpPr>
            <a:cxnSpLocks/>
          </p:cNvCxnSpPr>
          <p:nvPr/>
        </p:nvCxnSpPr>
        <p:spPr>
          <a:xfrm flipV="1">
            <a:off x="3131840" y="4221088"/>
            <a:ext cx="504600" cy="1847452"/>
          </a:xfrm>
          <a:prstGeom prst="straightConnector1">
            <a:avLst/>
          </a:prstGeom>
          <a:ln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57D8B87-683F-4423-97C4-8DAB9AED0153}"/>
              </a:ext>
            </a:extLst>
          </p:cNvPr>
          <p:cNvCxnSpPr>
            <a:cxnSpLocks/>
          </p:cNvCxnSpPr>
          <p:nvPr/>
        </p:nvCxnSpPr>
        <p:spPr>
          <a:xfrm flipV="1">
            <a:off x="5890105" y="4259223"/>
            <a:ext cx="0" cy="1330017"/>
          </a:xfrm>
          <a:prstGeom prst="straightConnector1">
            <a:avLst/>
          </a:prstGeom>
          <a:ln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3834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 animBg="1"/>
      <p:bldP spid="13" grpId="0" animBg="1"/>
      <p:bldP spid="14" grpId="0" animBg="1"/>
      <p:bldP spid="1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6"/>
          <p:cNvSpPr>
            <a:spLocks noGrp="1"/>
          </p:cNvSpPr>
          <p:nvPr>
            <p:ph type="title"/>
          </p:nvPr>
        </p:nvSpPr>
        <p:spPr>
          <a:xfrm>
            <a:off x="460248" y="2708920"/>
            <a:ext cx="8229600" cy="1440160"/>
          </a:xfrm>
        </p:spPr>
        <p:txBody>
          <a:bodyPr>
            <a:normAutofit/>
          </a:bodyPr>
          <a:lstStyle/>
          <a:p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תבנית עיצוב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סטנדרטי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443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 Pattern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65C15456-DC34-4CA9-8AF0-BA1D4F30B50E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286944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7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68A9A1E-4980-41C5-BFF2-A9AB88FF5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>
            <a:normAutofit/>
          </a:bodyPr>
          <a:lstStyle/>
          <a:p>
            <a:r>
              <a:rPr lang="he-IL" dirty="0"/>
              <a:t>הפתרון של </a:t>
            </a:r>
            <a:r>
              <a:rPr lang="he-IL" dirty="0">
                <a:solidFill>
                  <a:srgbClr val="FF0000"/>
                </a:solidFill>
              </a:rPr>
              <a:t>הוספת פונקציית </a:t>
            </a:r>
            <a:r>
              <a:rPr lang="en-US" i="1" dirty="0" err="1">
                <a:solidFill>
                  <a:srgbClr val="FF0000"/>
                </a:solidFill>
              </a:rPr>
              <a:t>InitUnix</a:t>
            </a:r>
            <a:r>
              <a:rPr lang="he-IL" i="1" dirty="0">
                <a:solidFill>
                  <a:srgbClr val="FF0000"/>
                </a:solidFill>
              </a:rPr>
              <a:t> </a:t>
            </a:r>
            <a:r>
              <a:rPr lang="he-IL" i="1" dirty="0"/>
              <a:t>לכל מודם ומודם </a:t>
            </a:r>
            <a:r>
              <a:rPr lang="he-IL" dirty="0">
                <a:solidFill>
                  <a:srgbClr val="FF0000"/>
                </a:solidFill>
              </a:rPr>
              <a:t>אינו מוצלח</a:t>
            </a:r>
            <a:r>
              <a:rPr lang="he-IL" dirty="0"/>
              <a:t>, שכן הוא מפר את עיקרון </a:t>
            </a:r>
            <a:r>
              <a:rPr lang="en-US" i="1" dirty="0"/>
              <a:t>SRP </a:t>
            </a:r>
            <a:r>
              <a:rPr lang="he-IL" i="1" dirty="0"/>
              <a:t>-</a:t>
            </a:r>
            <a:endParaRPr lang="he-IL" dirty="0"/>
          </a:p>
          <a:p>
            <a:pPr marL="274320" lvl="1" indent="0">
              <a:buNone/>
            </a:pPr>
            <a:r>
              <a:rPr lang="he-IL" i="1" dirty="0"/>
              <a:t> (</a:t>
            </a:r>
            <a:r>
              <a:rPr lang="en-US" i="1" dirty="0"/>
              <a:t>(Single Responsibility Principle</a:t>
            </a:r>
            <a:r>
              <a:rPr lang="he-IL" i="1" dirty="0"/>
              <a:t>.</a:t>
            </a:r>
          </a:p>
          <a:p>
            <a:pPr marL="548640" lvl="2" indent="0">
              <a:buNone/>
            </a:pPr>
            <a:r>
              <a:rPr lang="he-IL" dirty="0"/>
              <a:t>האחריות של ה</a:t>
            </a:r>
            <a:r>
              <a:rPr lang="en-US" dirty="0"/>
              <a:t> Modem </a:t>
            </a:r>
            <a:r>
              <a:rPr lang="he-IL" dirty="0"/>
              <a:t>היא לספק תקשורת, ולא לשמש כמתאם למערכת הפעלה זו או אחרת.</a:t>
            </a:r>
          </a:p>
          <a:p>
            <a:r>
              <a:rPr lang="he-IL" dirty="0"/>
              <a:t>הפתרון בעזרת </a:t>
            </a:r>
            <a:r>
              <a:rPr lang="en-US" i="1" dirty="0">
                <a:solidFill>
                  <a:srgbClr val="00B050"/>
                </a:solidFill>
              </a:rPr>
              <a:t>Visitor</a:t>
            </a:r>
            <a:r>
              <a:rPr lang="en-US" i="1" dirty="0"/>
              <a:t> Pattern</a:t>
            </a:r>
            <a:r>
              <a:rPr lang="he-IL" i="1" dirty="0"/>
              <a:t> </a:t>
            </a:r>
            <a:r>
              <a:rPr lang="he-IL" dirty="0">
                <a:solidFill>
                  <a:srgbClr val="00B050"/>
                </a:solidFill>
              </a:rPr>
              <a:t>מלביש מבחוץ פונקציונליות</a:t>
            </a:r>
            <a:r>
              <a:rPr lang="he-IL" dirty="0"/>
              <a:t>, מעבר לאחריות של המחלקות.</a:t>
            </a:r>
          </a:p>
          <a:p>
            <a:pPr marL="0" indent="0">
              <a:buNone/>
            </a:pPr>
            <a:r>
              <a:rPr lang="he-IL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5699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2C79CD01-4C27-4375-9CF3-4A4E76BEE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1" y="1174870"/>
            <a:ext cx="9029675" cy="40107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970"/>
            <a:ext cx="8229600" cy="990600"/>
          </a:xfrm>
        </p:spPr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Modem</a:t>
            </a:r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עם תבנית עיצוב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98990CD6-0063-4763-8081-04FA2BB766FA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430960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8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15" name="Straight Connector 12">
            <a:extLst>
              <a:ext uri="{FF2B5EF4-FFF2-40B4-BE49-F238E27FC236}">
                <a16:creationId xmlns:a16="http://schemas.microsoft.com/office/drawing/2014/main" id="{9483B9B7-9564-413B-A4B9-77899FA8C22E}"/>
              </a:ext>
            </a:extLst>
          </p:cNvPr>
          <p:cNvCxnSpPr>
            <a:cxnSpLocks/>
          </p:cNvCxnSpPr>
          <p:nvPr/>
        </p:nvCxnSpPr>
        <p:spPr>
          <a:xfrm flipH="1">
            <a:off x="6300192" y="4157544"/>
            <a:ext cx="648072" cy="1228446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oval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7D7BD2A-3C02-4B7D-85A8-E1FFF4E66C55}"/>
              </a:ext>
            </a:extLst>
          </p:cNvPr>
          <p:cNvSpPr/>
          <p:nvPr/>
        </p:nvSpPr>
        <p:spPr>
          <a:xfrm>
            <a:off x="2179744" y="1826696"/>
            <a:ext cx="2264064" cy="2430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en-US"/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C54BC5A3-C7E3-4804-8ABD-B1344281043D}"/>
              </a:ext>
            </a:extLst>
          </p:cNvPr>
          <p:cNvSpPr txBox="1"/>
          <p:nvPr/>
        </p:nvSpPr>
        <p:spPr>
          <a:xfrm>
            <a:off x="414502" y="5385990"/>
            <a:ext cx="3904256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dirty="0">
                <a:latin typeface="Tahoma" panose="020B0604030504040204" pitchFamily="34" charset="0"/>
              </a:rPr>
              <a:t>public void </a:t>
            </a:r>
            <a:r>
              <a:rPr lang="en-US" dirty="0">
                <a:highlight>
                  <a:srgbClr val="FFFF00"/>
                </a:highlight>
                <a:latin typeface="Tahoma" panose="020B0604030504040204" pitchFamily="34" charset="0"/>
              </a:rPr>
              <a:t>accept</a:t>
            </a:r>
            <a:r>
              <a:rPr lang="en-US" dirty="0">
                <a:latin typeface="Tahoma" panose="020B0604030504040204" pitchFamily="34" charset="0"/>
              </a:rPr>
              <a:t>(</a:t>
            </a:r>
            <a:r>
              <a:rPr lang="en-US" dirty="0" err="1">
                <a:latin typeface="Tahoma" panose="020B0604030504040204" pitchFamily="34" charset="0"/>
              </a:rPr>
              <a:t>ModemVisitor</a:t>
            </a:r>
            <a:r>
              <a:rPr lang="en-US" dirty="0">
                <a:latin typeface="Tahoma" panose="020B0604030504040204" pitchFamily="34" charset="0"/>
              </a:rPr>
              <a:t> v) {</a:t>
            </a:r>
          </a:p>
          <a:p>
            <a:r>
              <a:rPr lang="en-US" dirty="0">
                <a:latin typeface="Tahoma" panose="020B0604030504040204" pitchFamily="34" charset="0"/>
              </a:rPr>
              <a:t>    </a:t>
            </a:r>
            <a:r>
              <a:rPr lang="en-US" dirty="0" err="1">
                <a:latin typeface="Tahoma" panose="020B0604030504040204" pitchFamily="34" charset="0"/>
              </a:rPr>
              <a:t>v.visit</a:t>
            </a:r>
            <a:r>
              <a:rPr lang="en-US" dirty="0">
                <a:latin typeface="Tahoma" panose="020B0604030504040204" pitchFamily="34" charset="0"/>
              </a:rPr>
              <a:t>(this);</a:t>
            </a:r>
          </a:p>
          <a:p>
            <a:r>
              <a:rPr lang="en-US" dirty="0">
                <a:latin typeface="Tahoma" panose="020B0604030504040204" pitchFamily="34" charset="0"/>
              </a:rPr>
              <a:t>}</a:t>
            </a:r>
            <a:endParaRPr lang="he-IL" dirty="0">
              <a:latin typeface="Tahoma" panose="020B0604030504040204" pitchFamily="34" charset="0"/>
            </a:endParaRPr>
          </a:p>
        </p:txBody>
      </p:sp>
      <p:cxnSp>
        <p:nvCxnSpPr>
          <p:cNvPr id="7" name="מחבר חץ ישר 6">
            <a:extLst>
              <a:ext uri="{FF2B5EF4-FFF2-40B4-BE49-F238E27FC236}">
                <a16:creationId xmlns:a16="http://schemas.microsoft.com/office/drawing/2014/main" id="{6205541F-F655-4A67-B594-B3478D2629D3}"/>
              </a:ext>
            </a:extLst>
          </p:cNvPr>
          <p:cNvCxnSpPr>
            <a:cxnSpLocks/>
            <a:stCxn id="5" idx="0"/>
          </p:cNvCxnSpPr>
          <p:nvPr/>
        </p:nvCxnSpPr>
        <p:spPr>
          <a:xfrm flipH="1" flipV="1">
            <a:off x="179512" y="4157544"/>
            <a:ext cx="2187118" cy="122844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B23B3AE8-C728-4F65-8E6C-4A37A199F5EF}"/>
              </a:ext>
            </a:extLst>
          </p:cNvPr>
          <p:cNvSpPr txBox="1"/>
          <p:nvPr/>
        </p:nvSpPr>
        <p:spPr>
          <a:xfrm>
            <a:off x="4572000" y="5385990"/>
            <a:ext cx="4499992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l" rtl="0"/>
            <a:r>
              <a:rPr lang="en-US" sz="1800" b="0" i="0" u="none" strike="noStrike" baseline="0" dirty="0">
                <a:latin typeface="Tahoma" panose="020B0604030504040204" pitchFamily="34" charset="0"/>
              </a:rPr>
              <a:t>public void </a:t>
            </a:r>
            <a:r>
              <a:rPr lang="en-US" sz="1800" b="0" i="0" u="none" strike="noStrike" baseline="0" dirty="0">
                <a:highlight>
                  <a:srgbClr val="FFFF00"/>
                </a:highlight>
                <a:latin typeface="Tahoma" panose="020B0604030504040204" pitchFamily="34" charset="0"/>
              </a:rPr>
              <a:t>visit</a:t>
            </a:r>
            <a:r>
              <a:rPr lang="en-US" sz="1800" b="0" i="0" u="none" strike="noStrike" baseline="0" dirty="0">
                <a:latin typeface="Tahoma" panose="020B0604030504040204" pitchFamily="34" charset="0"/>
              </a:rPr>
              <a:t>(</a:t>
            </a:r>
            <a:r>
              <a:rPr lang="en-US" sz="1800" dirty="0" err="1">
                <a:latin typeface="Tahoma" panose="020B0604030504040204" pitchFamily="34" charset="0"/>
              </a:rPr>
              <a:t>Zoom</a:t>
            </a:r>
            <a:r>
              <a:rPr lang="en-US" sz="1800" b="0" i="0" u="none" strike="noStrike" baseline="0" dirty="0" err="1">
                <a:latin typeface="Tahoma" panose="020B0604030504040204" pitchFamily="34" charset="0"/>
              </a:rPr>
              <a:t>Modem</a:t>
            </a:r>
            <a:r>
              <a:rPr lang="en-US" sz="1800" b="0" i="0" u="none" strike="noStrike" baseline="0" dirty="0">
                <a:latin typeface="Tahoma" panose="020B0604030504040204" pitchFamily="34" charset="0"/>
              </a:rPr>
              <a:t> z){</a:t>
            </a:r>
            <a:endParaRPr lang="he-IL" sz="1800" b="0" i="0" u="none" strike="noStrike" baseline="0" dirty="0">
              <a:latin typeface="Tahoma" panose="020B0604030504040204" pitchFamily="34" charset="0"/>
            </a:endParaRPr>
          </a:p>
          <a:p>
            <a:pPr algn="l" rtl="0"/>
            <a:r>
              <a:rPr lang="en-US" sz="1800" b="0" i="0" u="none" strike="noStrike" baseline="0" dirty="0">
                <a:latin typeface="Tahoma" panose="020B0604030504040204" pitchFamily="34" charset="0"/>
              </a:rPr>
              <a:t>    </a:t>
            </a:r>
            <a:r>
              <a:rPr lang="en-US" sz="1800" b="0" i="0" u="none" strike="noStrike" baseline="0" dirty="0" err="1">
                <a:latin typeface="Tahoma" panose="020B0604030504040204" pitchFamily="34" charset="0"/>
              </a:rPr>
              <a:t>z.configurationString</a:t>
            </a:r>
            <a:r>
              <a:rPr lang="en-US" sz="1800" b="0" i="0" u="none" strike="noStrike" baseline="0" dirty="0">
                <a:latin typeface="Tahoma" panose="020B0604030504040204" pitchFamily="34" charset="0"/>
              </a:rPr>
              <a:t> = "&amp;s1=4&amp;D=3";</a:t>
            </a:r>
          </a:p>
          <a:p>
            <a:pPr algn="l" rtl="0"/>
            <a:r>
              <a:rPr lang="en-US" dirty="0">
                <a:latin typeface="Tahoma" panose="020B0604030504040204" pitchFamily="34" charset="0"/>
              </a:rPr>
              <a:t>}</a:t>
            </a:r>
            <a:endParaRPr lang="en-US" sz="1800" b="0" i="0" u="none" strike="noStrike" baseline="0" dirty="0">
              <a:latin typeface="Tahoma" panose="020B0604030504040204" pitchFamily="34" charset="0"/>
            </a:endParaRPr>
          </a:p>
        </p:txBody>
      </p:sp>
      <p:cxnSp>
        <p:nvCxnSpPr>
          <p:cNvPr id="24" name="מחבר חץ ישר 23">
            <a:extLst>
              <a:ext uri="{FF2B5EF4-FFF2-40B4-BE49-F238E27FC236}">
                <a16:creationId xmlns:a16="http://schemas.microsoft.com/office/drawing/2014/main" id="{8924BDEF-20D7-4CA9-86E7-7D4211FF072D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366630" y="4157544"/>
            <a:ext cx="58569" cy="122844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מחבר חץ ישר 16">
            <a:extLst>
              <a:ext uri="{FF2B5EF4-FFF2-40B4-BE49-F238E27FC236}">
                <a16:creationId xmlns:a16="http://schemas.microsoft.com/office/drawing/2014/main" id="{0517CFD6-23B2-4B38-BF34-63CB6F33C0E1}"/>
              </a:ext>
            </a:extLst>
          </p:cNvPr>
          <p:cNvCxnSpPr>
            <a:cxnSpLocks/>
            <a:stCxn id="5" idx="0"/>
          </p:cNvCxnSpPr>
          <p:nvPr/>
        </p:nvCxnSpPr>
        <p:spPr>
          <a:xfrm flipV="1">
            <a:off x="2366630" y="4157544"/>
            <a:ext cx="2277378" cy="1228446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861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970"/>
            <a:ext cx="8229600" cy="990600"/>
          </a:xfrm>
        </p:spPr>
        <p:txBody>
          <a:bodyPr/>
          <a:lstStyle/>
          <a:p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הוספת פונקציה עבור כל מחלקת בן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83AF6589-4550-40A2-832E-EDAA114FA89C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430960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9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1CCD197-8664-47F6-A192-C4733B95D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9398"/>
            <a:ext cx="8229600" cy="1684784"/>
          </a:xfrm>
        </p:spPr>
        <p:txBody>
          <a:bodyPr/>
          <a:lstStyle/>
          <a:p>
            <a:r>
              <a:rPr lang="he-IL" dirty="0"/>
              <a:t>לכל מערכת הפעלה תהיה </a:t>
            </a:r>
            <a:r>
              <a:rPr lang="en-US" dirty="0" err="1">
                <a:solidFill>
                  <a:srgbClr val="00B050"/>
                </a:solidFill>
              </a:rPr>
              <a:t>ModemVisitor</a:t>
            </a:r>
            <a:r>
              <a:rPr lang="he-IL" dirty="0"/>
              <a:t> משלה.</a:t>
            </a:r>
          </a:p>
          <a:p>
            <a:r>
              <a:rPr lang="he-IL" dirty="0"/>
              <a:t>כל </a:t>
            </a:r>
            <a:r>
              <a:rPr lang="en-US" dirty="0" err="1"/>
              <a:t>ModemVisitor</a:t>
            </a:r>
            <a:r>
              <a:rPr lang="he-IL" dirty="0"/>
              <a:t> יממש </a:t>
            </a:r>
            <a:r>
              <a:rPr lang="he-IL" u="sng" dirty="0">
                <a:solidFill>
                  <a:srgbClr val="00B050"/>
                </a:solidFill>
              </a:rPr>
              <a:t>פונקציה</a:t>
            </a:r>
            <a:r>
              <a:rPr lang="he-IL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00B050"/>
                </a:solidFill>
              </a:rPr>
              <a:t>visit</a:t>
            </a:r>
            <a:r>
              <a:rPr lang="he-IL" dirty="0">
                <a:solidFill>
                  <a:srgbClr val="00B050"/>
                </a:solidFill>
              </a:rPr>
              <a:t> </a:t>
            </a:r>
            <a:r>
              <a:rPr lang="he-IL" dirty="0"/>
              <a:t>עבור </a:t>
            </a:r>
            <a:r>
              <a:rPr lang="he-IL" dirty="0">
                <a:solidFill>
                  <a:srgbClr val="00B050"/>
                </a:solidFill>
              </a:rPr>
              <a:t>כל מחלקת בן</a:t>
            </a:r>
            <a:r>
              <a:rPr lang="he-IL" dirty="0"/>
              <a:t> של </a:t>
            </a:r>
            <a:r>
              <a:rPr lang="en-US" dirty="0"/>
              <a:t>Modem</a:t>
            </a:r>
            <a:r>
              <a:rPr lang="he-IL" dirty="0"/>
              <a:t>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7129652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דוגמא לשימוש בתבנית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6824F86D-8B16-41DA-AA30-12898A6D2852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502968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10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B9CDC191-8D4B-4537-B2A1-A81D7C12A30F}"/>
              </a:ext>
            </a:extLst>
          </p:cNvPr>
          <p:cNvSpPr txBox="1"/>
          <p:nvPr/>
        </p:nvSpPr>
        <p:spPr>
          <a:xfrm>
            <a:off x="2282952" y="5719902"/>
            <a:ext cx="4578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he-IL" sz="1800" dirty="0"/>
              <a:t>(מתוך </a:t>
            </a:r>
            <a:r>
              <a:rPr lang="en-US" sz="1800" dirty="0" err="1"/>
              <a:t>junit</a:t>
            </a:r>
            <a:r>
              <a:rPr lang="he-IL" sz="1800" dirty="0"/>
              <a:t>, מימוש של האפליקציה ב</a:t>
            </a:r>
            <a:r>
              <a:rPr lang="en-US" sz="1800" dirty="0"/>
              <a:t> Java </a:t>
            </a:r>
            <a:r>
              <a:rPr lang="he-IL" sz="1800" dirty="0"/>
              <a:t>)</a:t>
            </a:r>
            <a:endParaRPr lang="he-IL" dirty="0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B731AA5E-E296-4C1F-BE11-365D42EF329A}"/>
              </a:ext>
            </a:extLst>
          </p:cNvPr>
          <p:cNvSpPr txBox="1"/>
          <p:nvPr/>
        </p:nvSpPr>
        <p:spPr>
          <a:xfrm>
            <a:off x="612648" y="1297804"/>
            <a:ext cx="5903568" cy="480131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>
                <a:latin typeface="Tahoma" panose="020B0604030504040204" pitchFamily="34" charset="0"/>
              </a:rPr>
              <a:t>import </a:t>
            </a:r>
            <a:r>
              <a:rPr lang="en-US" dirty="0" err="1">
                <a:latin typeface="Tahoma" panose="020B0604030504040204" pitchFamily="34" charset="0"/>
              </a:rPr>
              <a:t>junit.framework</a:t>
            </a:r>
            <a:r>
              <a:rPr lang="en-US" dirty="0">
                <a:latin typeface="Tahoma" panose="020B0604030504040204" pitchFamily="34" charset="0"/>
              </a:rPr>
              <a:t>.*;</a:t>
            </a:r>
          </a:p>
          <a:p>
            <a:r>
              <a:rPr lang="en-US" dirty="0">
                <a:latin typeface="Tahoma" panose="020B0604030504040204" pitchFamily="34" charset="0"/>
              </a:rPr>
              <a:t>public class </a:t>
            </a:r>
            <a:r>
              <a:rPr lang="en-US" dirty="0" err="1">
                <a:latin typeface="Tahoma" panose="020B0604030504040204" pitchFamily="34" charset="0"/>
              </a:rPr>
              <a:t>TestModemVisitor</a:t>
            </a:r>
            <a:r>
              <a:rPr lang="en-US" dirty="0">
                <a:latin typeface="Tahoma" panose="020B0604030504040204" pitchFamily="34" charset="0"/>
              </a:rPr>
              <a:t>  extends </a:t>
            </a:r>
            <a:r>
              <a:rPr lang="en-US" dirty="0" err="1">
                <a:latin typeface="Tahoma" panose="020B0604030504040204" pitchFamily="34" charset="0"/>
              </a:rPr>
              <a:t>TestCase</a:t>
            </a:r>
            <a:r>
              <a:rPr lang="en-US" dirty="0">
                <a:latin typeface="Tahoma" panose="020B0604030504040204" pitchFamily="34" charset="0"/>
              </a:rPr>
              <a:t>{ </a:t>
            </a:r>
          </a:p>
          <a:p>
            <a:r>
              <a:rPr lang="en-US" dirty="0">
                <a:latin typeface="Tahoma" panose="020B0604030504040204" pitchFamily="34" charset="0"/>
              </a:rPr>
              <a:t>     private </a:t>
            </a:r>
            <a:r>
              <a:rPr lang="en-US" dirty="0" err="1">
                <a:latin typeface="Tahoma" panose="020B0604030504040204" pitchFamily="34" charset="0"/>
              </a:rPr>
              <a:t>UnixModemConfigurator</a:t>
            </a:r>
            <a:r>
              <a:rPr lang="en-US" dirty="0">
                <a:latin typeface="Tahoma" panose="020B0604030504040204" pitchFamily="34" charset="0"/>
              </a:rPr>
              <a:t> v; </a:t>
            </a:r>
          </a:p>
          <a:p>
            <a:r>
              <a:rPr lang="en-US" dirty="0">
                <a:latin typeface="Tahoma" panose="020B0604030504040204" pitchFamily="34" charset="0"/>
              </a:rPr>
              <a:t>     private </a:t>
            </a:r>
            <a:r>
              <a:rPr lang="en-US" dirty="0" err="1">
                <a:latin typeface="Tahoma" panose="020B0604030504040204" pitchFamily="34" charset="0"/>
              </a:rPr>
              <a:t>HayesModem</a:t>
            </a:r>
            <a:r>
              <a:rPr lang="en-US" dirty="0">
                <a:latin typeface="Tahoma" panose="020B0604030504040204" pitchFamily="34" charset="0"/>
              </a:rPr>
              <a:t> h; </a:t>
            </a:r>
          </a:p>
          <a:p>
            <a:r>
              <a:rPr lang="en-US" dirty="0">
                <a:latin typeface="Tahoma" panose="020B0604030504040204" pitchFamily="34" charset="0"/>
              </a:rPr>
              <a:t>     private </a:t>
            </a:r>
            <a:r>
              <a:rPr lang="en-US" dirty="0" err="1">
                <a:latin typeface="Tahoma" panose="020B0604030504040204" pitchFamily="34" charset="0"/>
              </a:rPr>
              <a:t>ZoomModem</a:t>
            </a:r>
            <a:r>
              <a:rPr lang="en-US" dirty="0">
                <a:latin typeface="Tahoma" panose="020B0604030504040204" pitchFamily="34" charset="0"/>
              </a:rPr>
              <a:t> z; </a:t>
            </a:r>
          </a:p>
          <a:p>
            <a:r>
              <a:rPr lang="en-US" dirty="0">
                <a:latin typeface="Tahoma" panose="020B0604030504040204" pitchFamily="34" charset="0"/>
              </a:rPr>
              <a:t>     private </a:t>
            </a:r>
            <a:r>
              <a:rPr lang="en-US" dirty="0" err="1">
                <a:latin typeface="Tahoma" panose="020B0604030504040204" pitchFamily="34" charset="0"/>
              </a:rPr>
              <a:t>ErnieModem</a:t>
            </a:r>
            <a:r>
              <a:rPr lang="en-US" dirty="0">
                <a:latin typeface="Tahoma" panose="020B0604030504040204" pitchFamily="34" charset="0"/>
              </a:rPr>
              <a:t> e;  </a:t>
            </a:r>
          </a:p>
          <a:p>
            <a:endParaRPr lang="en-US" dirty="0">
              <a:latin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</a:rPr>
              <a:t>     public </a:t>
            </a:r>
            <a:r>
              <a:rPr lang="en-US" dirty="0" err="1">
                <a:latin typeface="Tahoma" panose="020B0604030504040204" pitchFamily="34" charset="0"/>
              </a:rPr>
              <a:t>TestModemVisitor</a:t>
            </a:r>
            <a:r>
              <a:rPr lang="en-US" dirty="0">
                <a:latin typeface="Tahoma" panose="020B0604030504040204" pitchFamily="34" charset="0"/>
              </a:rPr>
              <a:t>(</a:t>
            </a:r>
            <a:r>
              <a:rPr lang="en-US" dirty="0">
                <a:highlight>
                  <a:srgbClr val="FFFF00"/>
                </a:highlight>
                <a:latin typeface="Tahoma" panose="020B0604030504040204" pitchFamily="34" charset="0"/>
              </a:rPr>
              <a:t>String name</a:t>
            </a:r>
            <a:r>
              <a:rPr lang="en-US" dirty="0">
                <a:latin typeface="Tahoma" panose="020B0604030504040204" pitchFamily="34" charset="0"/>
              </a:rPr>
              <a:t>)  {   </a:t>
            </a:r>
          </a:p>
          <a:p>
            <a:r>
              <a:rPr lang="en-US" dirty="0">
                <a:latin typeface="Tahoma" panose="020B0604030504040204" pitchFamily="34" charset="0"/>
              </a:rPr>
              <a:t>          super(name); </a:t>
            </a:r>
          </a:p>
          <a:p>
            <a:r>
              <a:rPr lang="en-US" dirty="0">
                <a:latin typeface="Tahoma" panose="020B0604030504040204" pitchFamily="34" charset="0"/>
              </a:rPr>
              <a:t>     } </a:t>
            </a:r>
          </a:p>
          <a:p>
            <a:endParaRPr lang="en-US" dirty="0">
              <a:latin typeface="Tahoma" panose="020B0604030504040204" pitchFamily="34" charset="0"/>
            </a:endParaRPr>
          </a:p>
          <a:p>
            <a:r>
              <a:rPr lang="en-US" dirty="0">
                <a:latin typeface="Tahoma" panose="020B0604030504040204" pitchFamily="34" charset="0"/>
              </a:rPr>
              <a:t>     public void </a:t>
            </a:r>
            <a:r>
              <a:rPr lang="en-US" dirty="0" err="1">
                <a:latin typeface="Tahoma" panose="020B0604030504040204" pitchFamily="34" charset="0"/>
              </a:rPr>
              <a:t>setUp</a:t>
            </a:r>
            <a:r>
              <a:rPr lang="en-US" dirty="0">
                <a:latin typeface="Tahoma" panose="020B0604030504040204" pitchFamily="34" charset="0"/>
              </a:rPr>
              <a:t>() { </a:t>
            </a:r>
          </a:p>
          <a:p>
            <a:r>
              <a:rPr lang="en-US" dirty="0">
                <a:latin typeface="Tahoma" panose="020B0604030504040204" pitchFamily="34" charset="0"/>
              </a:rPr>
              <a:t>          v = new </a:t>
            </a:r>
            <a:r>
              <a:rPr lang="en-US" dirty="0" err="1">
                <a:latin typeface="Tahoma" panose="020B0604030504040204" pitchFamily="34" charset="0"/>
              </a:rPr>
              <a:t>UnixModemConfigurator</a:t>
            </a:r>
            <a:r>
              <a:rPr lang="en-US" dirty="0">
                <a:latin typeface="Tahoma" panose="020B0604030504040204" pitchFamily="34" charset="0"/>
              </a:rPr>
              <a:t>();</a:t>
            </a:r>
          </a:p>
          <a:p>
            <a:r>
              <a:rPr lang="en-US" dirty="0">
                <a:latin typeface="Tahoma" panose="020B0604030504040204" pitchFamily="34" charset="0"/>
              </a:rPr>
              <a:t>          h = new </a:t>
            </a:r>
            <a:r>
              <a:rPr lang="en-US" dirty="0" err="1">
                <a:latin typeface="Tahoma" panose="020B0604030504040204" pitchFamily="34" charset="0"/>
              </a:rPr>
              <a:t>HayesModem</a:t>
            </a:r>
            <a:r>
              <a:rPr lang="en-US" dirty="0">
                <a:latin typeface="Tahoma" panose="020B0604030504040204" pitchFamily="34" charset="0"/>
              </a:rPr>
              <a:t>(); </a:t>
            </a:r>
          </a:p>
          <a:p>
            <a:r>
              <a:rPr lang="en-US" dirty="0">
                <a:latin typeface="Tahoma" panose="020B0604030504040204" pitchFamily="34" charset="0"/>
              </a:rPr>
              <a:t>          z = new </a:t>
            </a:r>
            <a:r>
              <a:rPr lang="en-US" dirty="0" err="1">
                <a:latin typeface="Tahoma" panose="020B0604030504040204" pitchFamily="34" charset="0"/>
              </a:rPr>
              <a:t>ZoomModem</a:t>
            </a:r>
            <a:r>
              <a:rPr lang="en-US" dirty="0">
                <a:latin typeface="Tahoma" panose="020B0604030504040204" pitchFamily="34" charset="0"/>
              </a:rPr>
              <a:t>(); </a:t>
            </a:r>
          </a:p>
          <a:p>
            <a:r>
              <a:rPr lang="en-US" dirty="0">
                <a:latin typeface="Tahoma" panose="020B0604030504040204" pitchFamily="34" charset="0"/>
              </a:rPr>
              <a:t>          e = new </a:t>
            </a:r>
            <a:r>
              <a:rPr lang="en-US" dirty="0" err="1">
                <a:latin typeface="Tahoma" panose="020B0604030504040204" pitchFamily="34" charset="0"/>
              </a:rPr>
              <a:t>ErnieModem</a:t>
            </a:r>
            <a:r>
              <a:rPr lang="en-US" dirty="0">
                <a:latin typeface="Tahoma" panose="020B0604030504040204" pitchFamily="34" charset="0"/>
              </a:rPr>
              <a:t>(); </a:t>
            </a:r>
          </a:p>
          <a:p>
            <a:r>
              <a:rPr lang="en-US" dirty="0">
                <a:latin typeface="Tahoma" panose="020B0604030504040204" pitchFamily="34" charset="0"/>
              </a:rPr>
              <a:t>     } </a:t>
            </a:r>
            <a:endParaRPr lang="he-IL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278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המשך הדוגמא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D7777F78-399F-48FE-8583-6C77DC1FB438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502968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11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B9CDC191-8D4B-4537-B2A1-A81D7C12A30F}"/>
              </a:ext>
            </a:extLst>
          </p:cNvPr>
          <p:cNvSpPr txBox="1"/>
          <p:nvPr/>
        </p:nvSpPr>
        <p:spPr>
          <a:xfrm>
            <a:off x="2282952" y="5731572"/>
            <a:ext cx="45780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lang="he-IL" sz="1800" dirty="0"/>
              <a:t>(מתוך </a:t>
            </a:r>
            <a:r>
              <a:rPr lang="en-US" sz="1800" dirty="0" err="1"/>
              <a:t>junit</a:t>
            </a:r>
            <a:r>
              <a:rPr lang="he-IL" sz="1800" dirty="0"/>
              <a:t>, מימוש של האפליקציה ב</a:t>
            </a:r>
            <a:r>
              <a:rPr lang="en-US" sz="1800" dirty="0"/>
              <a:t> Java </a:t>
            </a:r>
            <a:r>
              <a:rPr lang="he-IL" sz="1800" dirty="0"/>
              <a:t>)</a:t>
            </a:r>
            <a:endParaRPr lang="he-IL" dirty="0"/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79D33D97-A0A3-4DF6-A4BE-6300F6519907}"/>
              </a:ext>
            </a:extLst>
          </p:cNvPr>
          <p:cNvSpPr txBox="1"/>
          <p:nvPr/>
        </p:nvSpPr>
        <p:spPr>
          <a:xfrm>
            <a:off x="613432" y="1398544"/>
            <a:ext cx="7486960" cy="424731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    public void </a:t>
            </a:r>
            <a:r>
              <a:rPr lang="en-US" dirty="0" err="1"/>
              <a:t>testHayesForUnix</a:t>
            </a:r>
            <a:r>
              <a:rPr lang="en-US" dirty="0"/>
              <a:t>() {</a:t>
            </a:r>
          </a:p>
          <a:p>
            <a:r>
              <a:rPr lang="en-US" dirty="0"/>
              <a:t>         </a:t>
            </a:r>
            <a:r>
              <a:rPr lang="en-US" dirty="0" err="1"/>
              <a:t>h.accept</a:t>
            </a:r>
            <a:r>
              <a:rPr lang="en-US" dirty="0"/>
              <a:t>(v); </a:t>
            </a:r>
          </a:p>
          <a:p>
            <a:r>
              <a:rPr lang="en-US" dirty="0"/>
              <a:t>         </a:t>
            </a:r>
            <a:r>
              <a:rPr lang="en-US" dirty="0" err="1"/>
              <a:t>assertEquals</a:t>
            </a:r>
            <a:r>
              <a:rPr lang="en-US" dirty="0"/>
              <a:t>(42, </a:t>
            </a:r>
            <a:r>
              <a:rPr lang="en-US" dirty="0" err="1"/>
              <a:t>h.configurationValue</a:t>
            </a:r>
            <a:r>
              <a:rPr lang="en-US" dirty="0"/>
              <a:t>); </a:t>
            </a:r>
          </a:p>
          <a:p>
            <a:r>
              <a:rPr lang="en-US" dirty="0"/>
              <a:t>    } </a:t>
            </a:r>
          </a:p>
          <a:p>
            <a:endParaRPr lang="en-US" dirty="0"/>
          </a:p>
          <a:p>
            <a:r>
              <a:rPr lang="en-US" dirty="0"/>
              <a:t>    public void </a:t>
            </a:r>
            <a:r>
              <a:rPr lang="en-US" dirty="0" err="1"/>
              <a:t>testZoomForUnix</a:t>
            </a:r>
            <a:r>
              <a:rPr lang="en-US" dirty="0"/>
              <a:t>() { </a:t>
            </a:r>
          </a:p>
          <a:p>
            <a:r>
              <a:rPr lang="en-US" dirty="0"/>
              <a:t>        </a:t>
            </a:r>
            <a:r>
              <a:rPr lang="en-US" dirty="0" err="1"/>
              <a:t>z.accept</a:t>
            </a:r>
            <a:r>
              <a:rPr lang="en-US" dirty="0"/>
              <a:t>(v); </a:t>
            </a:r>
          </a:p>
          <a:p>
            <a:r>
              <a:rPr lang="en-US" dirty="0"/>
              <a:t>        </a:t>
            </a:r>
            <a:r>
              <a:rPr lang="en-US" dirty="0" err="1"/>
              <a:t>assertEquals</a:t>
            </a:r>
            <a:r>
              <a:rPr lang="en-US" dirty="0"/>
              <a:t>("&amp;s1=4&amp;D=3", </a:t>
            </a:r>
            <a:r>
              <a:rPr lang="en-US" dirty="0" err="1"/>
              <a:t>z.configurationString</a:t>
            </a:r>
            <a:r>
              <a:rPr lang="en-US" dirty="0"/>
              <a:t>); </a:t>
            </a:r>
          </a:p>
          <a:p>
            <a:r>
              <a:rPr lang="en-US" dirty="0"/>
              <a:t>    } </a:t>
            </a:r>
          </a:p>
          <a:p>
            <a:endParaRPr lang="en-US" dirty="0"/>
          </a:p>
          <a:p>
            <a:r>
              <a:rPr lang="en-US" dirty="0"/>
              <a:t>    public void </a:t>
            </a:r>
            <a:r>
              <a:rPr lang="en-US" dirty="0" err="1"/>
              <a:t>testErnieForUnix</a:t>
            </a:r>
            <a:r>
              <a:rPr lang="en-US" dirty="0"/>
              <a:t>() { </a:t>
            </a:r>
          </a:p>
          <a:p>
            <a:r>
              <a:rPr lang="en-US" dirty="0"/>
              <a:t>        </a:t>
            </a:r>
            <a:r>
              <a:rPr lang="en-US" dirty="0" err="1"/>
              <a:t>e.accept</a:t>
            </a:r>
            <a:r>
              <a:rPr lang="en-US" dirty="0"/>
              <a:t>(v); </a:t>
            </a:r>
          </a:p>
          <a:p>
            <a:r>
              <a:rPr lang="en-US" dirty="0"/>
              <a:t>        </a:t>
            </a:r>
            <a:r>
              <a:rPr lang="en-US" dirty="0" err="1"/>
              <a:t>assertEquals</a:t>
            </a:r>
            <a:r>
              <a:rPr lang="en-US" dirty="0"/>
              <a:t>("C is too slow", </a:t>
            </a:r>
            <a:r>
              <a:rPr lang="en-US" dirty="0" err="1"/>
              <a:t>e.internalPattern</a:t>
            </a:r>
            <a:r>
              <a:rPr lang="en-US" dirty="0"/>
              <a:t>); </a:t>
            </a:r>
          </a:p>
          <a:p>
            <a:r>
              <a:rPr lang="en-US" dirty="0"/>
              <a:t>    } </a:t>
            </a:r>
          </a:p>
          <a:p>
            <a:r>
              <a:rPr lang="en-US" dirty="0"/>
              <a:t>}</a:t>
            </a:r>
            <a:endParaRPr lang="he-IL" dirty="0"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5307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תרגילון ב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AFC5AAC1-E60D-4635-926D-A9EA4954CFE2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502968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12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Content Placeholder 5">
            <a:extLst>
              <a:ext uri="{FF2B5EF4-FFF2-40B4-BE49-F238E27FC236}">
                <a16:creationId xmlns:a16="http://schemas.microsoft.com/office/drawing/2014/main" id="{36788DE0-B6EF-4F21-AF63-F9124F5BC5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600200"/>
            <a:ext cx="8496944" cy="434908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dirty="0"/>
              <a:t>נניח שאנחנו רוצים כעת </a:t>
            </a:r>
            <a:r>
              <a:rPr lang="he-IL" dirty="0">
                <a:highlight>
                  <a:srgbClr val="FFFF00"/>
                </a:highlight>
              </a:rPr>
              <a:t>להתאים את הקונפיגורציה עבור </a:t>
            </a:r>
            <a:r>
              <a:rPr lang="en-US" dirty="0">
                <a:highlight>
                  <a:srgbClr val="FFFF00"/>
                </a:highlight>
              </a:rPr>
              <a:t>Windows</a:t>
            </a:r>
            <a:r>
              <a:rPr lang="he-IL" dirty="0">
                <a:highlight>
                  <a:srgbClr val="FFFF00"/>
                </a:highlight>
              </a:rPr>
              <a:t> </a:t>
            </a:r>
            <a:r>
              <a:rPr lang="he-IL" dirty="0"/>
              <a:t>ולשם כך אנחנו צריכים לבצע את הקונפיגורציה הבאה:</a:t>
            </a:r>
          </a:p>
          <a:p>
            <a:pPr marL="0" indent="0" algn="r">
              <a:buNone/>
            </a:pPr>
            <a:r>
              <a:rPr lang="he-IL" dirty="0"/>
              <a:t>עבור </a:t>
            </a:r>
            <a:r>
              <a:rPr lang="en-US" dirty="0" err="1"/>
              <a:t>HayesModem</a:t>
            </a:r>
            <a:r>
              <a:rPr lang="he-IL" dirty="0"/>
              <a:t>  : </a:t>
            </a:r>
            <a:r>
              <a:rPr lang="en-US" dirty="0" err="1"/>
              <a:t>configurationValue</a:t>
            </a:r>
            <a:r>
              <a:rPr lang="en-US" dirty="0"/>
              <a:t> = 50</a:t>
            </a:r>
          </a:p>
          <a:p>
            <a:pPr marL="0" indent="0" algn="r">
              <a:buNone/>
            </a:pPr>
            <a:r>
              <a:rPr lang="he-IL" dirty="0"/>
              <a:t>עבור </a:t>
            </a:r>
            <a:r>
              <a:rPr lang="en-US" dirty="0" err="1"/>
              <a:t>ZoomModem</a:t>
            </a:r>
            <a:r>
              <a:rPr lang="he-IL" dirty="0"/>
              <a:t>	  : </a:t>
            </a:r>
            <a:r>
              <a:rPr lang="en-US" dirty="0" err="1"/>
              <a:t>configurationstring</a:t>
            </a:r>
            <a:r>
              <a:rPr lang="en-US" dirty="0"/>
              <a:t>=“&amp;//Win&amp;676”</a:t>
            </a:r>
          </a:p>
          <a:p>
            <a:pPr marL="0" indent="0" algn="r">
              <a:buNone/>
            </a:pPr>
            <a:r>
              <a:rPr lang="he-IL" dirty="0"/>
              <a:t>עבור </a:t>
            </a:r>
            <a:r>
              <a:rPr lang="en-US" dirty="0" err="1"/>
              <a:t>ErnieModem</a:t>
            </a:r>
            <a:r>
              <a:rPr lang="he-IL" dirty="0"/>
              <a:t>   : </a:t>
            </a:r>
            <a:r>
              <a:rPr lang="en-US" dirty="0" err="1"/>
              <a:t>internalPattern</a:t>
            </a:r>
            <a:r>
              <a:rPr lang="en-US" dirty="0"/>
              <a:t> = “fast”</a:t>
            </a:r>
          </a:p>
          <a:p>
            <a:pPr marL="0" indent="0">
              <a:buNone/>
            </a:pPr>
            <a:r>
              <a:rPr lang="he-IL" dirty="0"/>
              <a:t>כיצד נבצע זאת? איזה מחלקות מושפעות?</a:t>
            </a:r>
          </a:p>
        </p:txBody>
      </p:sp>
    </p:spTree>
    <p:extLst>
      <p:ext uri="{BB962C8B-B14F-4D97-AF65-F5344CB8AC3E}">
        <p14:creationId xmlns:p14="http://schemas.microsoft.com/office/powerpoint/2010/main" val="2670514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שתי קריאות פולימורפיות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CA8B9C53-43E3-407A-9553-19FF50D122C6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502968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13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3D23B6BF-171F-4D2F-BE93-1525C3407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77620"/>
            <a:ext cx="8229600" cy="990601"/>
          </a:xfrm>
        </p:spPr>
        <p:txBody>
          <a:bodyPr>
            <a:normAutofit/>
          </a:bodyPr>
          <a:lstStyle/>
          <a:p>
            <a:pPr marL="731520" lvl="1" indent="-457200" algn="r" rtl="1">
              <a:buFont typeface="+mj-lt"/>
              <a:buAutoNum type="arabicPeriod"/>
            </a:pPr>
            <a:r>
              <a:rPr lang="en-US" sz="2800" dirty="0"/>
              <a:t>Accept	</a:t>
            </a:r>
            <a:r>
              <a:rPr lang="he-IL" sz="2800" dirty="0"/>
              <a:t>: הארגומנט קובע איזה </a:t>
            </a:r>
            <a:r>
              <a:rPr lang="en-US" sz="2800" dirty="0"/>
              <a:t>Visitor</a:t>
            </a:r>
            <a:r>
              <a:rPr lang="he-IL" sz="2800" dirty="0"/>
              <a:t> יפעל.</a:t>
            </a:r>
          </a:p>
          <a:p>
            <a:pPr marL="731520" lvl="1" indent="-457200" algn="r" rtl="1">
              <a:buFont typeface="+mj-lt"/>
              <a:buAutoNum type="arabicPeriod"/>
            </a:pPr>
            <a:r>
              <a:rPr lang="en-US" sz="2800" dirty="0"/>
              <a:t>Visit	</a:t>
            </a:r>
            <a:r>
              <a:rPr lang="he-IL" sz="2800" dirty="0"/>
              <a:t>: הארגומנט קובע איזו פונקציה תפעל.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09E197B-4CD6-4257-B0C8-0D67F6ED4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2" y="2516092"/>
            <a:ext cx="9029675" cy="40107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407B29-09D5-628E-8104-CBB1F64CDB6E}"/>
              </a:ext>
            </a:extLst>
          </p:cNvPr>
          <p:cNvSpPr txBox="1"/>
          <p:nvPr/>
        </p:nvSpPr>
        <p:spPr>
          <a:xfrm>
            <a:off x="4762087" y="3645024"/>
            <a:ext cx="16561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he-IL" dirty="0">
                <a:highlight>
                  <a:srgbClr val="FFFF00"/>
                </a:highlight>
              </a:rPr>
              <a:t>מה הבעיה במימוש מעגלי?</a:t>
            </a:r>
            <a:endParaRPr lang="en-IL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531295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הבעיה של ה-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הסטנדרטי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4F4134E5-4988-4B64-B06B-A47CDD2C579E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502968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14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556EB63-E7A0-4C0A-8CE4-40F33066AD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457200" y="1340768"/>
            <a:ext cx="8229600" cy="41044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800" dirty="0"/>
              <a:t>התלות המעגלית בעייתית:</a:t>
            </a:r>
          </a:p>
          <a:p>
            <a:pPr marL="0" indent="0">
              <a:buNone/>
            </a:pPr>
            <a:endParaRPr lang="he-IL" sz="2800" dirty="0"/>
          </a:p>
          <a:p>
            <a:pPr marL="0" indent="0">
              <a:spcBef>
                <a:spcPts val="0"/>
              </a:spcBef>
              <a:buNone/>
            </a:pPr>
            <a:r>
              <a:rPr lang="he-IL" sz="2400" dirty="0"/>
              <a:t>אם יתווסף </a:t>
            </a:r>
            <a:r>
              <a:rPr lang="he-IL" sz="2400" dirty="0">
                <a:highlight>
                  <a:srgbClr val="FFFF00"/>
                </a:highlight>
              </a:rPr>
              <a:t>מודם חדש</a:t>
            </a:r>
            <a:r>
              <a:rPr lang="he-IL" sz="2400" dirty="0"/>
              <a:t>, צריך </a:t>
            </a:r>
            <a:r>
              <a:rPr lang="he-IL" sz="2400" dirty="0">
                <a:solidFill>
                  <a:srgbClr val="FF0000"/>
                </a:solidFill>
              </a:rPr>
              <a:t>להוסיף לממשק </a:t>
            </a:r>
            <a:r>
              <a:rPr lang="en-US" sz="2400" i="1" dirty="0" err="1">
                <a:solidFill>
                  <a:srgbClr val="FF0000"/>
                </a:solidFill>
              </a:rPr>
              <a:t>ModemVisitor</a:t>
            </a:r>
            <a:r>
              <a:rPr lang="he-IL" sz="2400" i="1" dirty="0">
                <a:solidFill>
                  <a:srgbClr val="FF0000"/>
                </a:solidFill>
              </a:rPr>
              <a:t> </a:t>
            </a:r>
            <a:r>
              <a:rPr lang="he-IL" sz="2400" dirty="0"/>
              <a:t>ולכל המימושים שלו </a:t>
            </a:r>
            <a:r>
              <a:rPr lang="he-IL" sz="2400" dirty="0">
                <a:solidFill>
                  <a:srgbClr val="FF0000"/>
                </a:solidFill>
              </a:rPr>
              <a:t>את פונקציית </a:t>
            </a:r>
            <a:r>
              <a:rPr lang="en-US" sz="2400" i="1" dirty="0">
                <a:solidFill>
                  <a:srgbClr val="FF0000"/>
                </a:solidFill>
              </a:rPr>
              <a:t>Visit</a:t>
            </a:r>
            <a:r>
              <a:rPr lang="he-IL" sz="2400" dirty="0">
                <a:solidFill>
                  <a:srgbClr val="FF0000"/>
                </a:solidFill>
              </a:rPr>
              <a:t>החדשה</a:t>
            </a:r>
            <a:r>
              <a:rPr lang="he-IL" sz="2400" dirty="0"/>
              <a:t>. </a:t>
            </a:r>
          </a:p>
          <a:p>
            <a:pPr marL="0" indent="0">
              <a:spcBef>
                <a:spcPts val="0"/>
              </a:spcBef>
              <a:buNone/>
            </a:pPr>
            <a:endParaRPr lang="he-IL" sz="2400" dirty="0"/>
          </a:p>
          <a:p>
            <a:pPr marL="0" indent="0">
              <a:spcBef>
                <a:spcPts val="0"/>
              </a:spcBef>
              <a:buNone/>
            </a:pPr>
            <a:r>
              <a:rPr lang="he-IL" sz="2400" dirty="0"/>
              <a:t>יתרה מזו, גם </a:t>
            </a:r>
            <a:r>
              <a:rPr lang="he-IL" sz="2400" dirty="0">
                <a:highlight>
                  <a:srgbClr val="FFFF00"/>
                </a:highlight>
              </a:rPr>
              <a:t>מחלקת</a:t>
            </a:r>
            <a:r>
              <a:rPr lang="he-IL" sz="2400" i="1" dirty="0">
                <a:highlight>
                  <a:srgbClr val="FFFF00"/>
                </a:highlight>
              </a:rPr>
              <a:t> </a:t>
            </a:r>
            <a:r>
              <a:rPr lang="en-US" sz="2400" i="1" dirty="0">
                <a:highlight>
                  <a:srgbClr val="FFFF00"/>
                </a:highlight>
              </a:rPr>
              <a:t>Modem</a:t>
            </a:r>
            <a:r>
              <a:rPr lang="he-IL" sz="2400" i="1" dirty="0">
                <a:highlight>
                  <a:srgbClr val="FFFF00"/>
                </a:highlight>
              </a:rPr>
              <a:t> </a:t>
            </a:r>
            <a:r>
              <a:rPr lang="he-IL" sz="2400" dirty="0">
                <a:highlight>
                  <a:srgbClr val="FFFF00"/>
                </a:highlight>
              </a:rPr>
              <a:t>תצטרך להתקמפל מחדש </a:t>
            </a:r>
            <a:r>
              <a:rPr lang="he-IL" sz="2400" dirty="0"/>
              <a:t>כי יש לה תלות מסוג </a:t>
            </a:r>
            <a:r>
              <a:rPr lang="en-US" sz="2400" i="1" dirty="0"/>
              <a:t>dependency</a:t>
            </a:r>
            <a:r>
              <a:rPr lang="he-IL" sz="2400" i="1" dirty="0"/>
              <a:t> </a:t>
            </a:r>
            <a:r>
              <a:rPr lang="he-IL" sz="2400" dirty="0"/>
              <a:t>ב</a:t>
            </a:r>
            <a:r>
              <a:rPr lang="he-IL" sz="2400" i="1" dirty="0"/>
              <a:t> </a:t>
            </a:r>
            <a:r>
              <a:rPr lang="en-US" sz="2400" i="1" dirty="0" err="1"/>
              <a:t>ModemVisitor</a:t>
            </a:r>
            <a:r>
              <a:rPr lang="he-IL" sz="24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528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הבעיה של ה-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הסטנדרטי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DF2303F2-85A7-41C2-8751-09DE1F408AA2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502968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15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556EB63-E7A0-4C0A-8CE4-40F33066AD4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680981" y="1203311"/>
            <a:ext cx="7846992" cy="1302074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he-IL" sz="2400" dirty="0"/>
              <a:t>ה</a:t>
            </a:r>
            <a:r>
              <a:rPr lang="he-IL" sz="2400" dirty="0">
                <a:highlight>
                  <a:srgbClr val="FFFF00"/>
                </a:highlight>
              </a:rPr>
              <a:t>מעגליות</a:t>
            </a:r>
            <a:r>
              <a:rPr lang="he-IL" sz="2400" dirty="0"/>
              <a:t> של ה </a:t>
            </a:r>
            <a:r>
              <a:rPr lang="en-US" sz="2400" dirty="0"/>
              <a:t>Visitor</a:t>
            </a:r>
            <a:r>
              <a:rPr lang="he-IL" sz="2400" dirty="0"/>
              <a:t> הסטנדרטי עלולה להיות </a:t>
            </a:r>
            <a:r>
              <a:rPr lang="he-IL" sz="2400" dirty="0">
                <a:highlight>
                  <a:srgbClr val="FFFF00"/>
                </a:highlight>
              </a:rPr>
              <a:t>בעיתית</a:t>
            </a:r>
            <a:r>
              <a:rPr lang="he-IL" sz="2400" dirty="0"/>
              <a:t> אם צפוי </a:t>
            </a:r>
            <a:r>
              <a:rPr lang="he-IL" sz="2400" dirty="0">
                <a:highlight>
                  <a:srgbClr val="FFFF00"/>
                </a:highlight>
              </a:rPr>
              <a:t>שינוי בהרכב תתי מחלקות</a:t>
            </a:r>
            <a:r>
              <a:rPr lang="he-IL" sz="2400" dirty="0"/>
              <a:t> של האפליקציה</a:t>
            </a:r>
            <a:r>
              <a:rPr lang="he-IL" sz="2800" dirty="0"/>
              <a:t>.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6E7E6BE-F40D-43AB-8705-B607617C7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62" y="2425504"/>
            <a:ext cx="9029675" cy="4010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6058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כותרת 6"/>
          <p:cNvSpPr>
            <a:spLocks noGrp="1"/>
          </p:cNvSpPr>
          <p:nvPr>
            <p:ph type="title"/>
          </p:nvPr>
        </p:nvSpPr>
        <p:spPr>
          <a:xfrm>
            <a:off x="460248" y="2708920"/>
            <a:ext cx="8229600" cy="1440160"/>
          </a:xfrm>
        </p:spPr>
        <p:txBody>
          <a:bodyPr>
            <a:normAutofit/>
          </a:bodyPr>
          <a:lstStyle/>
          <a:p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תבנית עיצוב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לא מעגלי</a:t>
            </a:r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4564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EA89CB24-B5D5-41C6-9B0D-027035BF7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90" y="1417369"/>
            <a:ext cx="8308921" cy="48321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CB625AD-0FDE-43B1-B9F3-7427FA1313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35" y="1417369"/>
            <a:ext cx="8308921" cy="48321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Acyclic Visitor Pattern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6ED1E42A-A2E3-4659-B263-7B46200D3FB4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502968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17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65A96928-2B84-4B23-8F1B-FC78E143D658}"/>
              </a:ext>
            </a:extLst>
          </p:cNvPr>
          <p:cNvSpPr txBox="1"/>
          <p:nvPr/>
        </p:nvSpPr>
        <p:spPr>
          <a:xfrm>
            <a:off x="35496" y="1340768"/>
            <a:ext cx="2952328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200" dirty="0">
                <a:latin typeface="Tahoma" panose="020B0604030504040204" pitchFamily="34" charset="0"/>
              </a:rPr>
              <a:t>public void </a:t>
            </a:r>
            <a:r>
              <a:rPr lang="en-US" sz="1200" dirty="0">
                <a:highlight>
                  <a:srgbClr val="FFFF00"/>
                </a:highlight>
                <a:latin typeface="Tahoma" panose="020B0604030504040204" pitchFamily="34" charset="0"/>
              </a:rPr>
              <a:t>accept</a:t>
            </a:r>
            <a:r>
              <a:rPr lang="en-US" sz="1200" dirty="0">
                <a:latin typeface="Tahoma" panose="020B0604030504040204" pitchFamily="34" charset="0"/>
              </a:rPr>
              <a:t>(</a:t>
            </a:r>
            <a:r>
              <a:rPr lang="en-US" sz="1200" dirty="0" err="1">
                <a:latin typeface="Tahoma" panose="020B0604030504040204" pitchFamily="34" charset="0"/>
              </a:rPr>
              <a:t>ModemVisitor</a:t>
            </a:r>
            <a:r>
              <a:rPr lang="en-US" sz="1200" dirty="0">
                <a:latin typeface="Tahoma" panose="020B0604030504040204" pitchFamily="34" charset="0"/>
              </a:rPr>
              <a:t> v){</a:t>
            </a:r>
          </a:p>
          <a:p>
            <a:r>
              <a:rPr lang="en-US" sz="1200" dirty="0">
                <a:latin typeface="Tahoma" panose="020B0604030504040204" pitchFamily="34" charset="0"/>
              </a:rPr>
              <a:t>    try {</a:t>
            </a:r>
          </a:p>
          <a:p>
            <a:r>
              <a:rPr lang="en-US" sz="1200" dirty="0">
                <a:latin typeface="Tahoma" panose="020B0604030504040204" pitchFamily="34" charset="0"/>
              </a:rPr>
              <a:t>       </a:t>
            </a:r>
            <a:r>
              <a:rPr lang="en-US" sz="1200" dirty="0" err="1">
                <a:latin typeface="Tahoma" panose="020B0604030504040204" pitchFamily="34" charset="0"/>
              </a:rPr>
              <a:t>HayesVisitor</a:t>
            </a:r>
            <a:r>
              <a:rPr lang="en-US" sz="1200" dirty="0">
                <a:latin typeface="Tahoma" panose="020B0604030504040204" pitchFamily="34" charset="0"/>
              </a:rPr>
              <a:t> </a:t>
            </a:r>
            <a:r>
              <a:rPr lang="en-US" sz="1200" dirty="0" err="1">
                <a:latin typeface="Tahoma" panose="020B0604030504040204" pitchFamily="34" charset="0"/>
              </a:rPr>
              <a:t>hV</a:t>
            </a:r>
            <a:r>
              <a:rPr lang="en-US" sz="1200" dirty="0">
                <a:latin typeface="Tahoma" panose="020B0604030504040204" pitchFamily="34" charset="0"/>
              </a:rPr>
              <a:t> = (</a:t>
            </a:r>
            <a:r>
              <a:rPr lang="en-US" sz="1200" dirty="0" err="1">
                <a:latin typeface="Tahoma" panose="020B0604030504040204" pitchFamily="34" charset="0"/>
              </a:rPr>
              <a:t>HayesVisitor</a:t>
            </a:r>
            <a:r>
              <a:rPr lang="en-US" sz="1200" dirty="0">
                <a:latin typeface="Tahoma" panose="020B0604030504040204" pitchFamily="34" charset="0"/>
              </a:rPr>
              <a:t>) v;</a:t>
            </a:r>
          </a:p>
          <a:p>
            <a:r>
              <a:rPr lang="en-US" sz="1200" dirty="0">
                <a:latin typeface="Tahoma" panose="020B0604030504040204" pitchFamily="34" charset="0"/>
              </a:rPr>
              <a:t>       </a:t>
            </a:r>
            <a:r>
              <a:rPr lang="en-US" sz="1200" dirty="0" err="1">
                <a:latin typeface="Tahoma" panose="020B0604030504040204" pitchFamily="34" charset="0"/>
              </a:rPr>
              <a:t>hV.</a:t>
            </a:r>
            <a:r>
              <a:rPr lang="en-US" sz="1200" dirty="0" err="1">
                <a:highlight>
                  <a:srgbClr val="FFFF00"/>
                </a:highlight>
                <a:latin typeface="Tahoma" panose="020B0604030504040204" pitchFamily="34" charset="0"/>
              </a:rPr>
              <a:t>visit</a:t>
            </a:r>
            <a:r>
              <a:rPr lang="en-US" sz="1200" dirty="0">
                <a:latin typeface="Tahoma" panose="020B0604030504040204" pitchFamily="34" charset="0"/>
              </a:rPr>
              <a:t>(this);</a:t>
            </a:r>
          </a:p>
          <a:p>
            <a:r>
              <a:rPr lang="en-US" sz="1200" dirty="0">
                <a:latin typeface="Tahoma" panose="020B0604030504040204" pitchFamily="34" charset="0"/>
              </a:rPr>
              <a:t>   }  catch (</a:t>
            </a:r>
            <a:r>
              <a:rPr lang="en-US" sz="1200" dirty="0" err="1">
                <a:latin typeface="Tahoma" panose="020B0604030504040204" pitchFamily="34" charset="0"/>
              </a:rPr>
              <a:t>ClassCastExeption</a:t>
            </a:r>
            <a:r>
              <a:rPr lang="en-US" sz="1200" dirty="0">
                <a:latin typeface="Tahoma" panose="020B0604030504040204" pitchFamily="34" charset="0"/>
              </a:rPr>
              <a:t> e ) {}</a:t>
            </a:r>
          </a:p>
          <a:p>
            <a:r>
              <a:rPr lang="en-US" sz="1200" dirty="0">
                <a:latin typeface="Tahoma" panose="020B0604030504040204" pitchFamily="34" charset="0"/>
              </a:rPr>
              <a:t>}</a:t>
            </a:r>
            <a:endParaRPr lang="he-IL" sz="1200" dirty="0">
              <a:latin typeface="Tahoma" panose="020B0604030504040204" pitchFamily="34" charset="0"/>
            </a:endParaRPr>
          </a:p>
        </p:txBody>
      </p:sp>
      <p:cxnSp>
        <p:nvCxnSpPr>
          <p:cNvPr id="5" name="מחבר חץ ישר 4">
            <a:extLst>
              <a:ext uri="{FF2B5EF4-FFF2-40B4-BE49-F238E27FC236}">
                <a16:creationId xmlns:a16="http://schemas.microsoft.com/office/drawing/2014/main" id="{FDA5B24E-B6B6-4C5F-80DD-3D53EE354D4D}"/>
              </a:ext>
            </a:extLst>
          </p:cNvPr>
          <p:cNvCxnSpPr>
            <a:cxnSpLocks/>
          </p:cNvCxnSpPr>
          <p:nvPr/>
        </p:nvCxnSpPr>
        <p:spPr>
          <a:xfrm>
            <a:off x="251520" y="2541097"/>
            <a:ext cx="720080" cy="1175935"/>
          </a:xfrm>
          <a:prstGeom prst="straightConnector1">
            <a:avLst/>
          </a:prstGeom>
          <a:ln>
            <a:prstDash val="dash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D127B41-F56E-9147-2232-FB1ED0786A1E}"/>
              </a:ext>
            </a:extLst>
          </p:cNvPr>
          <p:cNvSpPr txBox="1"/>
          <p:nvPr/>
        </p:nvSpPr>
        <p:spPr>
          <a:xfrm>
            <a:off x="6645875" y="3068960"/>
            <a:ext cx="25410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algn="r" defTabSz="914400" rtl="1" eaLnBrk="1" latinLnBrk="0" hangingPunct="1"/>
            <a:r>
              <a:rPr lang="he-IL" sz="1800" dirty="0">
                <a:highlight>
                  <a:srgbClr val="FFFF00"/>
                </a:highlight>
              </a:rPr>
              <a:t>שינוי בהרכב תתי מחלקות</a:t>
            </a:r>
            <a:r>
              <a:rPr lang="he-IL" sz="1800" dirty="0"/>
              <a:t> של האפליקציה לא ישפיע על ה-</a:t>
            </a:r>
            <a:r>
              <a:rPr lang="en-US" sz="1800" dirty="0"/>
              <a:t>Visitor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407093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970"/>
            <a:ext cx="8229600" cy="990600"/>
          </a:xfrm>
        </p:spPr>
        <p:txBody>
          <a:bodyPr/>
          <a:lstStyle/>
          <a:p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הוספת ממשק עבור כל מחלקת בן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18503E4F-D8F2-4A9C-A928-56CEFE9AE5DF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430960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18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1CCD197-8664-47F6-A192-C4733B95D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4227"/>
            <a:ext cx="8229600" cy="2274720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he-IL" dirty="0"/>
              <a:t>ה </a:t>
            </a:r>
            <a:r>
              <a:rPr lang="en-US" dirty="0" err="1">
                <a:highlight>
                  <a:srgbClr val="FFFF00"/>
                </a:highlight>
              </a:rPr>
              <a:t>ModemVisitor</a:t>
            </a:r>
            <a:r>
              <a:rPr lang="he-IL" dirty="0"/>
              <a:t> הבסיסי, יהפוך </a:t>
            </a:r>
            <a:r>
              <a:rPr lang="he-IL" dirty="0">
                <a:highlight>
                  <a:srgbClr val="FFFF00"/>
                </a:highlight>
              </a:rPr>
              <a:t>למנוון</a:t>
            </a:r>
            <a:r>
              <a:rPr lang="he-IL" dirty="0"/>
              <a:t>.</a:t>
            </a:r>
          </a:p>
          <a:p>
            <a:pPr>
              <a:spcBef>
                <a:spcPts val="0"/>
              </a:spcBef>
            </a:pPr>
            <a:r>
              <a:rPr lang="he-IL" dirty="0">
                <a:highlight>
                  <a:srgbClr val="FFFF00"/>
                </a:highlight>
              </a:rPr>
              <a:t>נוסיף </a:t>
            </a:r>
            <a:r>
              <a:rPr lang="he-IL" u="sng" dirty="0">
                <a:highlight>
                  <a:srgbClr val="FFFF00"/>
                </a:highlight>
              </a:rPr>
              <a:t>ממשק</a:t>
            </a:r>
            <a:r>
              <a:rPr lang="he-IL" dirty="0">
                <a:highlight>
                  <a:srgbClr val="FFFF00"/>
                </a:highlight>
              </a:rPr>
              <a:t> </a:t>
            </a:r>
            <a:r>
              <a:rPr lang="he-IL" dirty="0"/>
              <a:t>עבור </a:t>
            </a:r>
            <a:r>
              <a:rPr lang="he-IL" dirty="0">
                <a:highlight>
                  <a:srgbClr val="FFFF00"/>
                </a:highlight>
              </a:rPr>
              <a:t>כל מחלקת בן </a:t>
            </a:r>
            <a:r>
              <a:rPr lang="he-IL" dirty="0"/>
              <a:t>של </a:t>
            </a:r>
            <a:r>
              <a:rPr lang="en-US" dirty="0"/>
              <a:t>Modem</a:t>
            </a:r>
            <a:endParaRPr lang="he-IL" dirty="0"/>
          </a:p>
          <a:p>
            <a:pPr>
              <a:spcBef>
                <a:spcPts val="0"/>
              </a:spcBef>
            </a:pPr>
            <a:r>
              <a:rPr lang="he-IL" dirty="0"/>
              <a:t>כל מחלקת בן של </a:t>
            </a:r>
            <a:r>
              <a:rPr lang="en-US" dirty="0" err="1"/>
              <a:t>ModemVisitor</a:t>
            </a:r>
            <a:r>
              <a:rPr lang="he-IL" dirty="0"/>
              <a:t> תממש את הממשקים שהיא תומכת בהם (לא חייב את כולם!).</a:t>
            </a:r>
          </a:p>
        </p:txBody>
      </p:sp>
    </p:spTree>
    <p:extLst>
      <p:ext uri="{BB962C8B-B14F-4D97-AF65-F5344CB8AC3E}">
        <p14:creationId xmlns:p14="http://schemas.microsoft.com/office/powerpoint/2010/main" val="35162252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מאפייני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Acyclic Visitor Pattern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CD333779-A8C5-42C7-849A-F3DF9E651501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502968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19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4" name="מציין מיקום תוכן 2">
            <a:extLst>
              <a:ext uri="{FF2B5EF4-FFF2-40B4-BE49-F238E27FC236}">
                <a16:creationId xmlns:a16="http://schemas.microsoft.com/office/drawing/2014/main" id="{DC005EE3-D87E-4CE7-80F9-293BB718A0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4160" y="1340416"/>
            <a:ext cx="8315680" cy="5015582"/>
          </a:xfrm>
        </p:spPr>
        <p:txBody>
          <a:bodyPr>
            <a:noAutofit/>
          </a:bodyPr>
          <a:lstStyle/>
          <a:p>
            <a:r>
              <a:rPr lang="he-IL" sz="2000" dirty="0"/>
              <a:t>כאשר מודם מקבל בפונקציית </a:t>
            </a:r>
            <a:r>
              <a:rPr lang="en-US" sz="2000" i="1" dirty="0"/>
              <a:t>accept</a:t>
            </a:r>
            <a:r>
              <a:rPr lang="he-IL" sz="2000" i="1" dirty="0"/>
              <a:t> </a:t>
            </a:r>
            <a:r>
              <a:rPr lang="he-IL" sz="2000" dirty="0"/>
              <a:t>אובייקט</a:t>
            </a:r>
            <a:r>
              <a:rPr lang="he-IL" sz="2000" i="1" dirty="0"/>
              <a:t> </a:t>
            </a:r>
            <a:r>
              <a:rPr lang="en-US" sz="2000" i="1" dirty="0" err="1"/>
              <a:t>ModemVisitor</a:t>
            </a:r>
            <a:r>
              <a:rPr lang="he-IL" sz="2000" i="1" dirty="0"/>
              <a:t> </a:t>
            </a:r>
            <a:r>
              <a:rPr lang="he-IL" sz="2000" dirty="0"/>
              <a:t>מסוג</a:t>
            </a:r>
            <a:r>
              <a:rPr lang="he-IL" sz="2000" i="1" dirty="0"/>
              <a:t> </a:t>
            </a:r>
            <a:r>
              <a:rPr lang="en-US" sz="2000" i="1" dirty="0" err="1"/>
              <a:t>UnixModemConfigurator</a:t>
            </a:r>
            <a:r>
              <a:rPr lang="he-IL" sz="2000" i="1" dirty="0"/>
              <a:t>, </a:t>
            </a:r>
            <a:r>
              <a:rPr lang="he-IL" sz="2000" dirty="0"/>
              <a:t>הוא צריך לעשות עליו </a:t>
            </a:r>
            <a:r>
              <a:rPr lang="en-US" sz="2000" i="1" dirty="0"/>
              <a:t>casting</a:t>
            </a:r>
            <a:r>
              <a:rPr lang="he-IL" sz="2000" i="1" dirty="0"/>
              <a:t> </a:t>
            </a:r>
            <a:r>
              <a:rPr lang="he-IL" sz="2000" dirty="0"/>
              <a:t>לממשק המיועד לו ולקרוא לפונקציית </a:t>
            </a:r>
            <a:r>
              <a:rPr lang="en-US" sz="2000" i="1" dirty="0"/>
              <a:t>visit</a:t>
            </a:r>
            <a:r>
              <a:rPr lang="he-IL" sz="2000" i="1" dirty="0"/>
              <a:t> </a:t>
            </a:r>
            <a:r>
              <a:rPr lang="he-IL" sz="2000" dirty="0"/>
              <a:t>שלו. </a:t>
            </a:r>
            <a:r>
              <a:rPr lang="he-IL" sz="2000" dirty="0">
                <a:highlight>
                  <a:srgbClr val="FFFF00"/>
                </a:highlight>
              </a:rPr>
              <a:t>כך באמת ה </a:t>
            </a:r>
            <a:r>
              <a:rPr lang="en-US" sz="2000" i="1" dirty="0">
                <a:highlight>
                  <a:srgbClr val="FFFF00"/>
                </a:highlight>
              </a:rPr>
              <a:t>visit</a:t>
            </a:r>
            <a:r>
              <a:rPr lang="he-IL" sz="2000" i="1" dirty="0">
                <a:highlight>
                  <a:srgbClr val="FFFF00"/>
                </a:highlight>
              </a:rPr>
              <a:t> </a:t>
            </a:r>
            <a:r>
              <a:rPr lang="he-IL" sz="2000" dirty="0">
                <a:highlight>
                  <a:srgbClr val="FFFF00"/>
                </a:highlight>
              </a:rPr>
              <a:t>הנכון</a:t>
            </a:r>
            <a:r>
              <a:rPr lang="he-IL" sz="2000" i="1" dirty="0">
                <a:highlight>
                  <a:srgbClr val="FFFF00"/>
                </a:highlight>
              </a:rPr>
              <a:t> </a:t>
            </a:r>
            <a:r>
              <a:rPr lang="he-IL" sz="2000" dirty="0">
                <a:highlight>
                  <a:srgbClr val="FFFF00"/>
                </a:highlight>
              </a:rPr>
              <a:t>יתבצע במחלקת </a:t>
            </a:r>
            <a:r>
              <a:rPr lang="en-US" sz="2000" i="1" dirty="0" err="1">
                <a:highlight>
                  <a:srgbClr val="FFFF00"/>
                </a:highlight>
              </a:rPr>
              <a:t>UnixModemConfigurator</a:t>
            </a:r>
            <a:r>
              <a:rPr lang="he-IL" sz="2000" i="1" dirty="0">
                <a:highlight>
                  <a:srgbClr val="FFFF00"/>
                </a:highlight>
              </a:rPr>
              <a:t> </a:t>
            </a:r>
            <a:r>
              <a:rPr lang="he-IL" sz="2000" dirty="0">
                <a:highlight>
                  <a:srgbClr val="FFFF00"/>
                </a:highlight>
              </a:rPr>
              <a:t>בו יש את כל המימושים של ה </a:t>
            </a:r>
            <a:r>
              <a:rPr lang="en-US" sz="2000" i="1" dirty="0">
                <a:highlight>
                  <a:srgbClr val="FFFF00"/>
                </a:highlight>
              </a:rPr>
              <a:t>visit</a:t>
            </a:r>
            <a:r>
              <a:rPr lang="he-IL" sz="2000" i="1" dirty="0"/>
              <a:t>.</a:t>
            </a:r>
            <a:endParaRPr lang="en-US" sz="2000" i="1" dirty="0"/>
          </a:p>
          <a:p>
            <a:r>
              <a:rPr lang="he-IL" sz="2000" dirty="0"/>
              <a:t>אם נוסיף עוד </a:t>
            </a:r>
            <a:r>
              <a:rPr lang="he-IL" sz="2000" dirty="0">
                <a:highlight>
                  <a:srgbClr val="FFFF00"/>
                </a:highlight>
              </a:rPr>
              <a:t>מודם</a:t>
            </a:r>
            <a:r>
              <a:rPr lang="he-IL" sz="2000" dirty="0"/>
              <a:t> חדש (</a:t>
            </a:r>
            <a:r>
              <a:rPr lang="he-IL" sz="2000" dirty="0">
                <a:solidFill>
                  <a:srgbClr val="FF0000"/>
                </a:solidFill>
              </a:rPr>
              <a:t>ולא מערכת הפעלה</a:t>
            </a:r>
            <a:r>
              <a:rPr lang="he-IL" sz="2000" dirty="0"/>
              <a:t>), אזי נשנה רק את הקוד במחלקת</a:t>
            </a:r>
            <a:r>
              <a:rPr lang="he-IL" sz="2000" i="1" dirty="0"/>
              <a:t> </a:t>
            </a:r>
            <a:r>
              <a:rPr lang="en-US" sz="2000" i="1" dirty="0" err="1"/>
              <a:t>UnixModemConfigurator</a:t>
            </a:r>
            <a:r>
              <a:rPr lang="he-IL" sz="2000" i="1" dirty="0"/>
              <a:t> </a:t>
            </a:r>
            <a:r>
              <a:rPr lang="he-IL" sz="2000" dirty="0"/>
              <a:t>ולא נצטרך לגעת בכלל בקוד של </a:t>
            </a:r>
            <a:r>
              <a:rPr lang="en-US" sz="2000" i="1" dirty="0" err="1"/>
              <a:t>ModemVisitor</a:t>
            </a:r>
            <a:r>
              <a:rPr lang="he-IL" sz="2000" i="1" dirty="0"/>
              <a:t> </a:t>
            </a:r>
            <a:r>
              <a:rPr lang="he-IL" sz="2000" b="1" dirty="0"/>
              <a:t>א"כ פתרנו את התלות המעגלית!</a:t>
            </a:r>
          </a:p>
          <a:p>
            <a:r>
              <a:rPr lang="he-IL" sz="2000" dirty="0"/>
              <a:t>עוד יתרון של </a:t>
            </a:r>
            <a:r>
              <a:rPr lang="en-US" sz="2000" i="1" dirty="0"/>
              <a:t>Acyclic Visitor</a:t>
            </a:r>
            <a:r>
              <a:rPr lang="he-IL" sz="2000" i="1" dirty="0"/>
              <a:t> </a:t>
            </a:r>
            <a:r>
              <a:rPr lang="he-IL" sz="2000" dirty="0"/>
              <a:t>הוא </a:t>
            </a:r>
            <a:r>
              <a:rPr lang="he-IL" sz="2000" dirty="0">
                <a:highlight>
                  <a:srgbClr val="FFFF00"/>
                </a:highlight>
              </a:rPr>
              <a:t>שתת המחלקה אינה "חייבת" לממש כל הגרסאות של </a:t>
            </a:r>
            <a:r>
              <a:rPr lang="en-US" sz="2000" i="1" dirty="0">
                <a:highlight>
                  <a:srgbClr val="FFFF00"/>
                </a:highlight>
              </a:rPr>
              <a:t>visit</a:t>
            </a:r>
            <a:r>
              <a:rPr lang="he-IL" sz="2000" i="1" dirty="0"/>
              <a:t>. </a:t>
            </a:r>
            <a:r>
              <a:rPr lang="he-IL" sz="2000" dirty="0"/>
              <a:t>לדוגמה, אם </a:t>
            </a:r>
            <a:r>
              <a:rPr lang="en-US" sz="2000" i="1" dirty="0" err="1"/>
              <a:t>ErnieModem</a:t>
            </a:r>
            <a:r>
              <a:rPr lang="he-IL" sz="2000" i="1" dirty="0"/>
              <a:t> </a:t>
            </a:r>
            <a:r>
              <a:rPr lang="he-IL" sz="2000" dirty="0"/>
              <a:t>אינו עובד עם</a:t>
            </a:r>
            <a:r>
              <a:rPr lang="he-IL" sz="2000" i="1" dirty="0"/>
              <a:t> </a:t>
            </a:r>
            <a:r>
              <a:rPr lang="en-US" sz="2000" dirty="0" err="1"/>
              <a:t>unix</a:t>
            </a:r>
            <a:r>
              <a:rPr lang="he-IL" sz="2000" i="1" dirty="0"/>
              <a:t>, </a:t>
            </a:r>
            <a:r>
              <a:rPr lang="he-IL" sz="2000" dirty="0"/>
              <a:t>אזי לא נגדיר את </a:t>
            </a:r>
            <a:r>
              <a:rPr lang="en-US" sz="2000" i="1" dirty="0" err="1"/>
              <a:t>UnixModemConfigurator</a:t>
            </a:r>
            <a:r>
              <a:rPr lang="he-IL" sz="2000" i="1" dirty="0"/>
              <a:t> </a:t>
            </a:r>
            <a:r>
              <a:rPr lang="he-IL" sz="2000" dirty="0"/>
              <a:t>כמממש של הממשק</a:t>
            </a:r>
            <a:r>
              <a:rPr lang="he-IL" sz="2000" i="1" dirty="0"/>
              <a:t> </a:t>
            </a:r>
            <a:r>
              <a:rPr lang="en-US" sz="2000" i="1" dirty="0" err="1"/>
              <a:t>ErnieVisitor</a:t>
            </a:r>
            <a:r>
              <a:rPr lang="he-IL" sz="2000" i="1" dirty="0"/>
              <a:t>.</a:t>
            </a:r>
            <a:endParaRPr lang="he-IL" sz="2000" dirty="0"/>
          </a:p>
        </p:txBody>
      </p:sp>
    </p:spTree>
    <p:extLst>
      <p:ext uri="{BB962C8B-B14F-4D97-AF65-F5344CB8AC3E}">
        <p14:creationId xmlns:p14="http://schemas.microsoft.com/office/powerpoint/2010/main" val="8721246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חסרונות </a:t>
            </a:r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r>
              <a:rPr lang="he-IL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לא מעגלי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A3A31DE7-19B6-459E-B52F-0A8C8084E133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502968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20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2" name="מציין מיקום תוכן 2">
            <a:extLst>
              <a:ext uri="{FF2B5EF4-FFF2-40B4-BE49-F238E27FC236}">
                <a16:creationId xmlns:a16="http://schemas.microsoft.com/office/drawing/2014/main" id="{DD46E8B8-3D1E-4BBB-9569-88EA99BAB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86693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lang="he-IL" dirty="0"/>
              <a:t>לכל "פתרון" יש מחיר. </a:t>
            </a:r>
          </a:p>
          <a:p>
            <a:r>
              <a:rPr lang="he-IL" dirty="0"/>
              <a:t>ה </a:t>
            </a:r>
            <a:r>
              <a:rPr lang="en-US" dirty="0"/>
              <a:t>casting</a:t>
            </a:r>
            <a:r>
              <a:rPr lang="he-IL" dirty="0">
                <a:highlight>
                  <a:srgbClr val="FFFF00"/>
                </a:highlight>
              </a:rPr>
              <a:t> עלול להיות ארוך/יקר</a:t>
            </a:r>
            <a:r>
              <a:rPr lang="he-IL" dirty="0"/>
              <a:t>: תלוי ברוחב/עומק עץ הירושה</a:t>
            </a:r>
          </a:p>
          <a:p>
            <a:r>
              <a:rPr lang="en-US" dirty="0" err="1"/>
              <a:t>ModemVisitor</a:t>
            </a:r>
            <a:r>
              <a:rPr lang="he-IL" dirty="0"/>
              <a:t> הפך למחלקה מנוונת – </a:t>
            </a:r>
            <a:r>
              <a:rPr lang="he-IL" dirty="0">
                <a:solidFill>
                  <a:srgbClr val="FF0000"/>
                </a:solidFill>
              </a:rPr>
              <a:t>מה החיסרון בזה? ״הרצות שקטות״ של בדיקות טיפוסים</a:t>
            </a:r>
            <a:r>
              <a:rPr lang="he-IL" dirty="0"/>
              <a:t>.</a:t>
            </a:r>
          </a:p>
          <a:p>
            <a:r>
              <a:rPr lang="he-IL" dirty="0"/>
              <a:t>ממשק ייעודי לכל מודם.</a:t>
            </a:r>
          </a:p>
          <a:p>
            <a:r>
              <a:rPr lang="en-US" dirty="0" err="1"/>
              <a:t>UnixModemConfigurator</a:t>
            </a:r>
            <a:r>
              <a:rPr lang="he-IL" dirty="0"/>
              <a:t> </a:t>
            </a:r>
            <a:r>
              <a:rPr lang="he-IL" dirty="0">
                <a:highlight>
                  <a:srgbClr val="FFFF00"/>
                </a:highlight>
              </a:rPr>
              <a:t>צריכה לממש את שלושת הממשקים </a:t>
            </a:r>
            <a:r>
              <a:rPr lang="he-IL" dirty="0"/>
              <a:t>השונים כאשר </a:t>
            </a:r>
            <a:r>
              <a:rPr lang="he-IL" dirty="0">
                <a:highlight>
                  <a:srgbClr val="FFFF00"/>
                </a:highlight>
              </a:rPr>
              <a:t>בכל אחת מהן יש </a:t>
            </a:r>
            <a:r>
              <a:rPr lang="en-US" dirty="0">
                <a:highlight>
                  <a:srgbClr val="FFFF00"/>
                </a:highlight>
              </a:rPr>
              <a:t>Visit</a:t>
            </a:r>
            <a:r>
              <a:rPr lang="he-IL" dirty="0">
                <a:highlight>
                  <a:srgbClr val="FFFF00"/>
                </a:highlight>
              </a:rPr>
              <a:t> אחד בלבד</a:t>
            </a:r>
            <a:r>
              <a:rPr lang="he-IL" dirty="0"/>
              <a:t>,הקשור לאותו מודם.</a:t>
            </a:r>
          </a:p>
          <a:p>
            <a:r>
              <a:rPr lang="he-IL" dirty="0"/>
              <a:t>המהנדס צריך להפעיל שיקול דעת לגבי הכדאיות.</a:t>
            </a:r>
          </a:p>
        </p:txBody>
      </p:sp>
    </p:spTree>
    <p:extLst>
      <p:ext uri="{BB962C8B-B14F-4D97-AF65-F5344CB8AC3E}">
        <p14:creationId xmlns:p14="http://schemas.microsoft.com/office/powerpoint/2010/main" val="1488622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A97741-A724-4898-B1B5-AFA0D48A2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552" y="1300576"/>
            <a:ext cx="8439631" cy="397473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71FD053-43C0-4FC8-985A-A2F2C8301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8970"/>
            <a:ext cx="8229600" cy="990600"/>
          </a:xfrm>
        </p:spPr>
        <p:txBody>
          <a:bodyPr/>
          <a:lstStyle/>
          <a:p>
            <a:r>
              <a:rPr lang="en-U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Generic </a:t>
            </a:r>
            <a:r>
              <a:rPr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 pattern</a:t>
            </a:r>
            <a:endParaRPr lang="he-IL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710FE3D0-7973-4754-8CA9-77A73273BC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0" y="6356350"/>
            <a:ext cx="2289048" cy="365760"/>
          </a:xfrm>
        </p:spPr>
        <p:txBody>
          <a:bodyPr/>
          <a:lstStyle/>
          <a:p>
            <a:fld id="{4B37B887-7CBF-4178-B1F5-88FED0B59073}" type="datetime9">
              <a:rPr lang="he-IL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15 דצמבר, 2025</a:t>
            </a:fld>
            <a:endParaRPr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44D943F3-5711-47D7-9B9D-288DACE11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2648" y="6356350"/>
            <a:ext cx="430960" cy="365760"/>
          </a:xfrm>
        </p:spPr>
        <p:txBody>
          <a:bodyPr/>
          <a:lstStyle/>
          <a:p>
            <a:pPr algn="ctr" eaLnBrk="1" latinLnBrk="0" hangingPunct="1"/>
            <a:fld id="{EA7C8D44-3667-46F6-9772-CC52308E2A7F}" type="slidenum">
              <a:rPr kumimoji="0" lang="en-US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pPr algn="ctr" eaLnBrk="1" latinLnBrk="0" hangingPunct="1"/>
              <a:t>21</a:t>
            </a:fld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1" name="Footer Placeholder 1">
            <a:extLst>
              <a:ext uri="{FF2B5EF4-FFF2-40B4-BE49-F238E27FC236}">
                <a16:creationId xmlns:a16="http://schemas.microsoft.com/office/drawing/2014/main" id="{7D7EA91C-E1E9-4D04-871D-FAEC5BB3F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83768" y="6356350"/>
            <a:ext cx="3920080" cy="365760"/>
          </a:xfrm>
        </p:spPr>
        <p:txBody>
          <a:bodyPr/>
          <a:lstStyle/>
          <a:p>
            <a:pPr rtl="1"/>
            <a:r>
              <a:rPr kumimoji="0" lang="he-IL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עיצוב ותכנות מונחה עצמים להנדסה - </a:t>
            </a:r>
            <a:r>
              <a:rPr kumimoji="0" lang="en-US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Visitor</a:t>
            </a:r>
            <a:endParaRPr kumimoji="0" lang="en-U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0626A74-AEDB-4A9E-9D31-57BBF9CCF3FC}"/>
                  </a:ext>
                </a:extLst>
              </p14:cNvPr>
              <p14:cNvContentPartPr/>
              <p14:nvPr/>
            </p14:nvContentPartPr>
            <p14:xfrm>
              <a:off x="3428640" y="4898640"/>
              <a:ext cx="51840" cy="146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0626A74-AEDB-4A9E-9D31-57BBF9CCF3F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420000" y="4889640"/>
                <a:ext cx="6948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E596758-EC64-41F3-9354-7D9AE806DB6C}"/>
                  </a:ext>
                </a:extLst>
              </p14:cNvPr>
              <p14:cNvContentPartPr/>
              <p14:nvPr/>
            </p14:nvContentPartPr>
            <p14:xfrm>
              <a:off x="3443760" y="4677240"/>
              <a:ext cx="84960" cy="3571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E596758-EC64-41F3-9354-7D9AE806DB6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35120" y="4668240"/>
                <a:ext cx="10260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4FF18127-6E7A-4C1D-8A2B-9E3250CB4999}"/>
                  </a:ext>
                </a:extLst>
              </p14:cNvPr>
              <p14:cNvContentPartPr/>
              <p14:nvPr/>
            </p14:nvContentPartPr>
            <p14:xfrm>
              <a:off x="4643258" y="4115565"/>
              <a:ext cx="74880" cy="1512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4FF18127-6E7A-4C1D-8A2B-9E3250CB499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607618" y="4079925"/>
                <a:ext cx="146520" cy="86760"/>
              </a:xfrm>
              <a:prstGeom prst="rect">
                <a:avLst/>
              </a:prstGeom>
            </p:spPr>
          </p:pic>
        </mc:Fallback>
      </mc:AlternateContent>
      <p:grpSp>
        <p:nvGrpSpPr>
          <p:cNvPr id="49" name="Group 48">
            <a:extLst>
              <a:ext uri="{FF2B5EF4-FFF2-40B4-BE49-F238E27FC236}">
                <a16:creationId xmlns:a16="http://schemas.microsoft.com/office/drawing/2014/main" id="{2D45590A-F652-4318-A9F3-E75CB51CEA34}"/>
              </a:ext>
            </a:extLst>
          </p:cNvPr>
          <p:cNvGrpSpPr/>
          <p:nvPr/>
        </p:nvGrpSpPr>
        <p:grpSpPr>
          <a:xfrm>
            <a:off x="4294058" y="4440285"/>
            <a:ext cx="84240" cy="122040"/>
            <a:chOff x="4294058" y="4440285"/>
            <a:chExt cx="84240" cy="12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37615A1-7EA0-438B-986A-FBB3671B7D6D}"/>
                    </a:ext>
                  </a:extLst>
                </p14:cNvPr>
                <p14:cNvContentPartPr/>
                <p14:nvPr/>
              </p14:nvContentPartPr>
              <p14:xfrm>
                <a:off x="4332938" y="4440285"/>
                <a:ext cx="45360" cy="54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37615A1-7EA0-438B-986A-FBB3671B7D6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297298" y="4404285"/>
                  <a:ext cx="11700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EF7D408-9599-4309-AAEF-D34DB8B3354A}"/>
                    </a:ext>
                  </a:extLst>
                </p14:cNvPr>
                <p14:cNvContentPartPr/>
                <p14:nvPr/>
              </p14:nvContentPartPr>
              <p14:xfrm>
                <a:off x="4294058" y="4554765"/>
                <a:ext cx="15120" cy="756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EF7D408-9599-4309-AAEF-D34DB8B3354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258058" y="4519125"/>
                  <a:ext cx="86760" cy="792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44BEFDAE-3989-4EB3-8297-6797399EB80F}"/>
              </a:ext>
            </a:extLst>
          </p:cNvPr>
          <p:cNvSpPr txBox="1"/>
          <p:nvPr/>
        </p:nvSpPr>
        <p:spPr>
          <a:xfrm>
            <a:off x="142399" y="5578993"/>
            <a:ext cx="4504431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</a:rPr>
              <a:t>  public void accept(Visitor&lt;</a:t>
            </a:r>
            <a:r>
              <a:rPr lang="en-US" sz="1600" dirty="0" err="1">
                <a:latin typeface="Tahoma" panose="020B0604030504040204" pitchFamily="34" charset="0"/>
              </a:rPr>
              <a:t>HayesModem</a:t>
            </a:r>
            <a:r>
              <a:rPr lang="en-US" sz="1600" dirty="0">
                <a:latin typeface="Tahoma" panose="020B0604030504040204" pitchFamily="34" charset="0"/>
              </a:rPr>
              <a:t>&gt; v) {</a:t>
            </a:r>
          </a:p>
          <a:p>
            <a:r>
              <a:rPr lang="en-US" sz="1600" dirty="0">
                <a:latin typeface="Tahoma" panose="020B0604030504040204" pitchFamily="34" charset="0"/>
              </a:rPr>
              <a:t>      </a:t>
            </a:r>
            <a:r>
              <a:rPr lang="en-US" sz="1600" dirty="0" err="1">
                <a:latin typeface="Tahoma" panose="020B0604030504040204" pitchFamily="34" charset="0"/>
              </a:rPr>
              <a:t>v.visit</a:t>
            </a:r>
            <a:r>
              <a:rPr lang="en-US" sz="1600" dirty="0">
                <a:latin typeface="Tahoma" panose="020B0604030504040204" pitchFamily="34" charset="0"/>
              </a:rPr>
              <a:t>(this);</a:t>
            </a:r>
          </a:p>
          <a:p>
            <a:r>
              <a:rPr lang="en-US" sz="1600" dirty="0">
                <a:latin typeface="Tahoma" panose="020B0604030504040204" pitchFamily="34" charset="0"/>
              </a:rPr>
              <a:t>  }</a:t>
            </a:r>
            <a:endParaRPr lang="he-IL" sz="1600" dirty="0">
              <a:latin typeface="Tahoma" panose="020B0604030504040204" pitchFamily="34" charset="0"/>
            </a:endParaRPr>
          </a:p>
        </p:txBody>
      </p:sp>
      <p:sp>
        <p:nvSpPr>
          <p:cNvPr id="57" name="תיבת טקסט 56">
            <a:extLst>
              <a:ext uri="{FF2B5EF4-FFF2-40B4-BE49-F238E27FC236}">
                <a16:creationId xmlns:a16="http://schemas.microsoft.com/office/drawing/2014/main" id="{68CC8FB0-99DC-4178-8D64-A6B19C406770}"/>
              </a:ext>
            </a:extLst>
          </p:cNvPr>
          <p:cNvSpPr txBox="1"/>
          <p:nvPr/>
        </p:nvSpPr>
        <p:spPr>
          <a:xfrm>
            <a:off x="4680698" y="5563773"/>
            <a:ext cx="416460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</a:rPr>
              <a:t>  public void visit(</a:t>
            </a:r>
            <a:r>
              <a:rPr lang="en-US" sz="1600" dirty="0" err="1">
                <a:latin typeface="Tahoma" panose="020B0604030504040204" pitchFamily="34" charset="0"/>
              </a:rPr>
              <a:t>ZoomModem</a:t>
            </a:r>
            <a:r>
              <a:rPr lang="en-US" sz="1600" dirty="0">
                <a:latin typeface="Tahoma" panose="020B0604030504040204" pitchFamily="34" charset="0"/>
              </a:rPr>
              <a:t> m) {</a:t>
            </a:r>
          </a:p>
          <a:p>
            <a:r>
              <a:rPr lang="en-US" sz="1600" dirty="0">
                <a:latin typeface="Tahoma" panose="020B0604030504040204" pitchFamily="34" charset="0"/>
              </a:rPr>
              <a:t>      </a:t>
            </a:r>
            <a:r>
              <a:rPr lang="en-US" sz="1600" dirty="0" err="1">
                <a:latin typeface="Tahoma" panose="020B0604030504040204" pitchFamily="34" charset="0"/>
              </a:rPr>
              <a:t>m.configurationString</a:t>
            </a:r>
            <a:r>
              <a:rPr lang="en-US" sz="1600" dirty="0">
                <a:latin typeface="Tahoma" panose="020B0604030504040204" pitchFamily="34" charset="0"/>
              </a:rPr>
              <a:t>=“&amp;s1=4&amp;d=3”;</a:t>
            </a:r>
          </a:p>
          <a:p>
            <a:r>
              <a:rPr lang="en-US" sz="1600" dirty="0">
                <a:latin typeface="Tahoma" panose="020B0604030504040204" pitchFamily="34" charset="0"/>
              </a:rPr>
              <a:t>  }</a:t>
            </a:r>
            <a:endParaRPr lang="he-IL" sz="1600" dirty="0">
              <a:latin typeface="Tahoma" panose="020B0604030504040204" pitchFamily="34" charset="0"/>
            </a:endParaRPr>
          </a:p>
        </p:txBody>
      </p:sp>
      <p:cxnSp>
        <p:nvCxnSpPr>
          <p:cNvPr id="58" name="מחבר חץ ישר 57">
            <a:extLst>
              <a:ext uri="{FF2B5EF4-FFF2-40B4-BE49-F238E27FC236}">
                <a16:creationId xmlns:a16="http://schemas.microsoft.com/office/drawing/2014/main" id="{A3A88E72-9A40-4F7E-9EAB-01F3BA6C61B2}"/>
              </a:ext>
            </a:extLst>
          </p:cNvPr>
          <p:cNvCxnSpPr>
            <a:cxnSpLocks/>
          </p:cNvCxnSpPr>
          <p:nvPr/>
        </p:nvCxnSpPr>
        <p:spPr>
          <a:xfrm flipV="1">
            <a:off x="612648" y="4203665"/>
            <a:ext cx="167042" cy="905777"/>
          </a:xfrm>
          <a:prstGeom prst="straightConnector1">
            <a:avLst/>
          </a:prstGeom>
          <a:ln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מחבר חץ ישר 59">
            <a:extLst>
              <a:ext uri="{FF2B5EF4-FFF2-40B4-BE49-F238E27FC236}">
                <a16:creationId xmlns:a16="http://schemas.microsoft.com/office/drawing/2014/main" id="{29B7CCCF-7EFF-40F7-B2CD-2D889087791E}"/>
              </a:ext>
            </a:extLst>
          </p:cNvPr>
          <p:cNvCxnSpPr>
            <a:cxnSpLocks/>
          </p:cNvCxnSpPr>
          <p:nvPr/>
        </p:nvCxnSpPr>
        <p:spPr>
          <a:xfrm flipV="1">
            <a:off x="6516216" y="4053284"/>
            <a:ext cx="387559" cy="1053386"/>
          </a:xfrm>
          <a:prstGeom prst="straightConnector1">
            <a:avLst/>
          </a:prstGeom>
          <a:ln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מלבן 34">
            <a:extLst>
              <a:ext uri="{FF2B5EF4-FFF2-40B4-BE49-F238E27FC236}">
                <a16:creationId xmlns:a16="http://schemas.microsoft.com/office/drawing/2014/main" id="{7473CBFC-1E8C-4F56-BE31-CD2E20D937C8}"/>
              </a:ext>
            </a:extLst>
          </p:cNvPr>
          <p:cNvSpPr/>
          <p:nvPr/>
        </p:nvSpPr>
        <p:spPr>
          <a:xfrm>
            <a:off x="4135816" y="1347939"/>
            <a:ext cx="582322" cy="47193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2" name="מלבן 61">
            <a:extLst>
              <a:ext uri="{FF2B5EF4-FFF2-40B4-BE49-F238E27FC236}">
                <a16:creationId xmlns:a16="http://schemas.microsoft.com/office/drawing/2014/main" id="{F57778DA-2114-4AB6-9707-780399C05612}"/>
              </a:ext>
            </a:extLst>
          </p:cNvPr>
          <p:cNvSpPr/>
          <p:nvPr/>
        </p:nvSpPr>
        <p:spPr>
          <a:xfrm>
            <a:off x="8477974" y="1320713"/>
            <a:ext cx="627681" cy="52411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3" name="מלבן 62">
            <a:extLst>
              <a:ext uri="{FF2B5EF4-FFF2-40B4-BE49-F238E27FC236}">
                <a16:creationId xmlns:a16="http://schemas.microsoft.com/office/drawing/2014/main" id="{7BFA0730-3A83-4A42-9AD6-B1947560F4C8}"/>
              </a:ext>
            </a:extLst>
          </p:cNvPr>
          <p:cNvSpPr/>
          <p:nvPr/>
        </p:nvSpPr>
        <p:spPr>
          <a:xfrm>
            <a:off x="712143" y="3952106"/>
            <a:ext cx="1682472" cy="2339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4" name="מלבן 63">
            <a:extLst>
              <a:ext uri="{FF2B5EF4-FFF2-40B4-BE49-F238E27FC236}">
                <a16:creationId xmlns:a16="http://schemas.microsoft.com/office/drawing/2014/main" id="{55C30151-4922-4C67-AE31-55BEE308DCCE}"/>
              </a:ext>
            </a:extLst>
          </p:cNvPr>
          <p:cNvSpPr/>
          <p:nvPr/>
        </p:nvSpPr>
        <p:spPr>
          <a:xfrm>
            <a:off x="2627784" y="3952106"/>
            <a:ext cx="1707159" cy="219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5" name="מלבן 64">
            <a:extLst>
              <a:ext uri="{FF2B5EF4-FFF2-40B4-BE49-F238E27FC236}">
                <a16:creationId xmlns:a16="http://schemas.microsoft.com/office/drawing/2014/main" id="{44C7F53B-2761-4DFC-8A15-CE7BB5675EE9}"/>
              </a:ext>
            </a:extLst>
          </p:cNvPr>
          <p:cNvSpPr/>
          <p:nvPr/>
        </p:nvSpPr>
        <p:spPr>
          <a:xfrm>
            <a:off x="4644008" y="3952106"/>
            <a:ext cx="1707159" cy="2196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pSp>
        <p:nvGrpSpPr>
          <p:cNvPr id="67" name="קבוצה 66">
            <a:extLst>
              <a:ext uri="{FF2B5EF4-FFF2-40B4-BE49-F238E27FC236}">
                <a16:creationId xmlns:a16="http://schemas.microsoft.com/office/drawing/2014/main" id="{712EDFD6-9534-48DC-8C4C-1FA3E3CEF40A}"/>
              </a:ext>
            </a:extLst>
          </p:cNvPr>
          <p:cNvGrpSpPr/>
          <p:nvPr/>
        </p:nvGrpSpPr>
        <p:grpSpPr>
          <a:xfrm>
            <a:off x="478792" y="1770272"/>
            <a:ext cx="1397592" cy="1418760"/>
            <a:chOff x="478792" y="1770272"/>
            <a:chExt cx="1397592" cy="1418760"/>
          </a:xfrm>
        </p:grpSpPr>
        <p:sp>
          <p:nvSpPr>
            <p:cNvPr id="36" name="פיצוץ: 8 נקודות 35">
              <a:extLst>
                <a:ext uri="{FF2B5EF4-FFF2-40B4-BE49-F238E27FC236}">
                  <a16:creationId xmlns:a16="http://schemas.microsoft.com/office/drawing/2014/main" id="{C40075DD-ED3A-4C6D-A602-885B2E729D1F}"/>
                </a:ext>
              </a:extLst>
            </p:cNvPr>
            <p:cNvSpPr/>
            <p:nvPr/>
          </p:nvSpPr>
          <p:spPr>
            <a:xfrm>
              <a:off x="513579" y="1770272"/>
              <a:ext cx="1362805" cy="1418760"/>
            </a:xfrm>
            <a:prstGeom prst="irregularSeal1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66" name="תיבת טקסט 65">
              <a:extLst>
                <a:ext uri="{FF2B5EF4-FFF2-40B4-BE49-F238E27FC236}">
                  <a16:creationId xmlns:a16="http://schemas.microsoft.com/office/drawing/2014/main" id="{CF75A21B-9055-4430-A7B9-86434461B39C}"/>
                </a:ext>
              </a:extLst>
            </p:cNvPr>
            <p:cNvSpPr txBox="1"/>
            <p:nvPr/>
          </p:nvSpPr>
          <p:spPr>
            <a:xfrm>
              <a:off x="478792" y="2187264"/>
              <a:ext cx="1397592" cy="584775"/>
            </a:xfrm>
            <a:prstGeom prst="rect">
              <a:avLst/>
            </a:prstGeom>
            <a:noFill/>
          </p:spPr>
          <p:txBody>
            <a:bodyPr wrap="square" rtlCol="1">
              <a:spAutoFit/>
            </a:bodyPr>
            <a:lstStyle/>
            <a:p>
              <a:pPr algn="ctr"/>
              <a:r>
                <a:rPr lang="en-US" sz="1600" dirty="0">
                  <a:latin typeface="Tahoma" panose="020B0604030504040204" pitchFamily="34" charset="0"/>
                </a:rPr>
                <a:t>doesn't work</a:t>
              </a:r>
            </a:p>
            <a:p>
              <a:pPr algn="ctr"/>
              <a:r>
                <a:rPr lang="en-US" sz="1600" dirty="0">
                  <a:latin typeface="Tahoma" panose="020B0604030504040204" pitchFamily="34" charset="0"/>
                </a:rPr>
                <a:t>in Java</a:t>
              </a:r>
              <a:endParaRPr lang="he-IL" sz="1600" dirty="0">
                <a:latin typeface="Tahoma" panose="020B0604030504040204" pitchFamily="34" charset="0"/>
              </a:endParaRPr>
            </a:p>
          </p:txBody>
        </p:sp>
      </p:grpSp>
      <p:sp>
        <p:nvSpPr>
          <p:cNvPr id="55" name="תיבת טקסט 54">
            <a:extLst>
              <a:ext uri="{FF2B5EF4-FFF2-40B4-BE49-F238E27FC236}">
                <a16:creationId xmlns:a16="http://schemas.microsoft.com/office/drawing/2014/main" id="{65CB7703-B505-4AFD-B31B-DD61C5A4E097}"/>
              </a:ext>
            </a:extLst>
          </p:cNvPr>
          <p:cNvSpPr txBox="1"/>
          <p:nvPr/>
        </p:nvSpPr>
        <p:spPr>
          <a:xfrm>
            <a:off x="98891" y="4859476"/>
            <a:ext cx="5549680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600" b="0" i="0" dirty="0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class 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HayesModem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 implements Modem&lt;</a:t>
            </a:r>
            <a:r>
              <a:rPr lang="en-US" sz="1600" b="0" i="0" dirty="0" err="1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HayesModem</a:t>
            </a:r>
            <a:r>
              <a:rPr lang="en-US" sz="1600" b="0" i="0" dirty="0">
                <a:solidFill>
                  <a:srgbClr val="222222"/>
                </a:solidFill>
                <a:effectLst/>
                <a:latin typeface="Tahoma" panose="020B0604030504040204" pitchFamily="34" charset="0"/>
              </a:rPr>
              <a:t>&gt;{</a:t>
            </a:r>
            <a:endParaRPr lang="he-IL" sz="1600" dirty="0">
              <a:latin typeface="Tahoma" panose="020B0604030504040204" pitchFamily="34" charset="0"/>
            </a:endParaRPr>
          </a:p>
        </p:txBody>
      </p:sp>
      <p:sp>
        <p:nvSpPr>
          <p:cNvPr id="29" name="תיבת טקסט 54">
            <a:extLst>
              <a:ext uri="{FF2B5EF4-FFF2-40B4-BE49-F238E27FC236}">
                <a16:creationId xmlns:a16="http://schemas.microsoft.com/office/drawing/2014/main" id="{C90A23D6-F028-4178-A4C5-4197E8245424}"/>
              </a:ext>
            </a:extLst>
          </p:cNvPr>
          <p:cNvSpPr txBox="1"/>
          <p:nvPr/>
        </p:nvSpPr>
        <p:spPr>
          <a:xfrm>
            <a:off x="184958" y="5186193"/>
            <a:ext cx="7344815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600" dirty="0">
                <a:latin typeface="Tahoma" panose="020B0604030504040204" pitchFamily="34" charset="0"/>
              </a:rPr>
              <a:t>class </a:t>
            </a:r>
            <a:r>
              <a:rPr lang="en-US" sz="1600" dirty="0" err="1">
                <a:latin typeface="Tahoma" panose="020B0604030504040204" pitchFamily="34" charset="0"/>
              </a:rPr>
              <a:t>UnixModemConfigurator</a:t>
            </a:r>
            <a:r>
              <a:rPr lang="en-US" sz="1600" dirty="0">
                <a:latin typeface="Tahoma" panose="020B0604030504040204" pitchFamily="34" charset="0"/>
              </a:rPr>
              <a:t> implements Visitor&lt;Hayes&gt;, Visitor&lt;Zoom&gt;,…</a:t>
            </a:r>
          </a:p>
        </p:txBody>
      </p:sp>
      <p:sp>
        <p:nvSpPr>
          <p:cNvPr id="30" name="מלבן 61">
            <a:extLst>
              <a:ext uri="{FF2B5EF4-FFF2-40B4-BE49-F238E27FC236}">
                <a16:creationId xmlns:a16="http://schemas.microsoft.com/office/drawing/2014/main" id="{F57778DA-2114-4AB6-9707-780399C05612}"/>
              </a:ext>
            </a:extLst>
          </p:cNvPr>
          <p:cNvSpPr/>
          <p:nvPr/>
        </p:nvSpPr>
        <p:spPr>
          <a:xfrm>
            <a:off x="6806236" y="2231839"/>
            <a:ext cx="1006124" cy="1890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מלבן 61">
            <a:extLst>
              <a:ext uri="{FF2B5EF4-FFF2-40B4-BE49-F238E27FC236}">
                <a16:creationId xmlns:a16="http://schemas.microsoft.com/office/drawing/2014/main" id="{F57778DA-2114-4AB6-9707-780399C05612}"/>
              </a:ext>
            </a:extLst>
          </p:cNvPr>
          <p:cNvSpPr/>
          <p:nvPr/>
        </p:nvSpPr>
        <p:spPr>
          <a:xfrm>
            <a:off x="2627784" y="2088431"/>
            <a:ext cx="1681394" cy="188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2415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20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7" grpId="1" animBg="1"/>
      <p:bldP spid="57" grpId="0" animBg="1"/>
      <p:bldP spid="57" grpId="1" animBg="1"/>
      <p:bldP spid="35" grpId="0" animBg="1"/>
      <p:bldP spid="35" grpId="1" animBg="1"/>
      <p:bldP spid="62" grpId="0" animBg="1"/>
      <p:bldP spid="62" grpId="1" animBg="1"/>
      <p:bldP spid="63" grpId="0" animBg="1"/>
      <p:bldP spid="63" grpId="1" animBg="1"/>
      <p:bldP spid="64" grpId="0" animBg="1"/>
      <p:bldP spid="64" grpId="1" animBg="1"/>
      <p:bldP spid="65" grpId="0" animBg="1"/>
      <p:bldP spid="65" grpId="1" animBg="1"/>
      <p:bldP spid="55" grpId="0" animBg="1"/>
      <p:bldP spid="55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EF39C-8F9C-6196-24B0-4ABB991B7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</a:t>
            </a:r>
            <a:endParaRPr lang="en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C4B80D-9E7E-8656-D886-E3ACE45F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C912D-B0E1-4FE6-9EC3-57537027ACD9}" type="datetime9">
              <a:rPr lang="he-IL" smtClean="0"/>
              <a:t>15 דצמבר, 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5B5EC8-88A8-A461-7891-A5F218479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עיצוב ותכנות מונחה עצמים להנדסה - </a:t>
            </a:r>
            <a:r>
              <a:rPr lang="en-US"/>
              <a:t>Visitor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A86DB3-9221-E161-2891-4175FB287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22</a:t>
            </a:fld>
            <a:endParaRPr kumimoji="0"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4E3705-CFA2-FFDD-ABAF-CBDD4B3EBD3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he-IL" dirty="0"/>
              <a:t>בשלב זה, מערכת החניון כבר תומכת בסוגי רכבים שונים ובתוספות תמחור.</a:t>
            </a:r>
          </a:p>
          <a:p>
            <a:pPr marL="0" indent="0">
              <a:buNone/>
            </a:pPr>
            <a:r>
              <a:rPr lang="he-IL" dirty="0"/>
              <a:t>כעת נדרש להוסיף פעולות חוצות-אובייקטים על רכיבי המערכת, מבלי לשנות את מחלקות הרכבים עצמן, ותוך שמירה על עקרון ה-</a:t>
            </a:r>
            <a:r>
              <a:rPr lang="en-US" dirty="0"/>
              <a:t>OCP</a:t>
            </a:r>
            <a:r>
              <a:rPr lang="he-IL" dirty="0"/>
              <a:t>.</a:t>
            </a:r>
          </a:p>
          <a:p>
            <a:pPr marL="0" indent="0">
              <a:buNone/>
            </a:pPr>
            <a:r>
              <a:rPr lang="he-IL" dirty="0"/>
              <a:t>מטרת ההרחבה לאפשר ביצוע פעולות שונות על רכבים וחניות, כגון:</a:t>
            </a:r>
          </a:p>
          <a:p>
            <a:r>
              <a:rPr lang="he-IL" dirty="0"/>
              <a:t>חישוב סטטיסטיקות</a:t>
            </a:r>
          </a:p>
          <a:p>
            <a:r>
              <a:rPr lang="he-IL" dirty="0"/>
              <a:t>הפקת דוחות </a:t>
            </a:r>
          </a:p>
          <a:p>
            <a:r>
              <a:rPr lang="he-IL" dirty="0"/>
              <a:t>בדיקות רגולטוריות </a:t>
            </a:r>
          </a:p>
          <a:p>
            <a:r>
              <a:rPr lang="he-IL" dirty="0"/>
              <a:t>סימולציות תמחור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174780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E12017-CC67-5A56-9B2C-23A0B907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3643E-0D53-0B32-6272-091C7A7C22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– </a:t>
            </a:r>
            <a:r>
              <a:rPr lang="en-US" dirty="0"/>
              <a:t>Visitor</a:t>
            </a:r>
            <a:r>
              <a:rPr lang="he-IL" dirty="0"/>
              <a:t> מעגלי</a:t>
            </a:r>
            <a:endParaRPr lang="en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07CCAF-9B63-3080-4340-866A0A6A5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C912D-B0E1-4FE6-9EC3-57537027ACD9}" type="datetime9">
              <a:rPr lang="he-IL" smtClean="0"/>
              <a:t>15 דצמבר, 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BEB5A6-1B9D-7C86-5F64-A2C64472A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עיצוב ותכנות מונחה עצמים להנדסה - </a:t>
            </a:r>
            <a:r>
              <a:rPr lang="en-US"/>
              <a:t>Visitor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F8D586-9B02-6069-7F66-3897D90A4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23</a:t>
            </a:fld>
            <a:endParaRPr kumimoji="0"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9C4A01-3ADD-E0AB-BF46-3A77D4615F5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he-IL" dirty="0"/>
              <a:t>דרישות פונקציונליות: </a:t>
            </a:r>
            <a:br>
              <a:rPr lang="en-US" dirty="0"/>
            </a:br>
            <a:r>
              <a:rPr lang="he-IL" dirty="0"/>
              <a:t>1.הוספת יכולת לביצוע פעולות שונות על כל סוג רכב:  (א) רכב פרטי, (ב) אופנוע, (ג) רכב חשמלי, (ד) רכב נכה.</a:t>
            </a:r>
          </a:p>
          <a:p>
            <a:pPr marL="0" indent="0">
              <a:buNone/>
            </a:pPr>
            <a:r>
              <a:rPr lang="he-IL" dirty="0"/>
              <a:t> 2. כל פעולה חדשה (למשל: חישוב עומס חניה) תמומש כ-</a:t>
            </a:r>
            <a:r>
              <a:rPr lang="en-US" dirty="0"/>
              <a:t>Visitor </a:t>
            </a:r>
            <a:r>
              <a:rPr lang="he-IL" dirty="0"/>
              <a:t>נפרד. </a:t>
            </a:r>
          </a:p>
          <a:p>
            <a:pPr marL="0" indent="0">
              <a:buNone/>
            </a:pPr>
            <a:r>
              <a:rPr lang="he-IL" dirty="0"/>
              <a:t>3. כל סוג רכב חייב לדעת לקבל </a:t>
            </a:r>
            <a:r>
              <a:rPr lang="en-US" dirty="0"/>
              <a:t>Visitor </a:t>
            </a:r>
            <a:r>
              <a:rPr lang="he-IL" dirty="0"/>
              <a:t> ולהפעיל עליו פעולה ייעודית. </a:t>
            </a:r>
          </a:p>
          <a:p>
            <a:pPr marL="0" indent="0">
              <a:buNone/>
            </a:pPr>
            <a:r>
              <a:rPr lang="he-IL" dirty="0"/>
              <a:t>הנחות תכנוניות: קיימת היררכיית רכבים ברורה, סוגי הרכבים אינם משתנים לעיתים קרובות, ופעולות חדשות מתווספות בתדירות גבוהה.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110828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16683-0B94-322D-260F-B53B2413C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8DE26-40CB-3BB3-B309-6BEC2D3E8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– </a:t>
            </a:r>
            <a:r>
              <a:rPr lang="en-US" dirty="0"/>
              <a:t>Visitor</a:t>
            </a:r>
            <a:r>
              <a:rPr lang="he-IL" dirty="0"/>
              <a:t> מעגלי</a:t>
            </a:r>
            <a:endParaRPr lang="en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C7A116-9E5C-B13C-00CF-0EEDB5798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C912D-B0E1-4FE6-9EC3-57537027ACD9}" type="datetime9">
              <a:rPr lang="he-IL" smtClean="0"/>
              <a:t>15 דצמבר, 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4C9983-B81C-0BA2-DEBA-78E8429F0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עיצוב ותכנות מונחה עצמים להנדסה - </a:t>
            </a:r>
            <a:r>
              <a:rPr lang="en-US"/>
              <a:t>Visitor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2E3A89-1015-DCDC-CF99-1E1A0A5D2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24</a:t>
            </a:fld>
            <a:endParaRPr kumimoji="0"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E35E59-1C98-6F0E-6CF0-3A06D45DBB23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14350" indent="-514350">
              <a:buAutoNum type="arabicPeriod"/>
            </a:pPr>
            <a:r>
              <a:rPr lang="he-IL" dirty="0"/>
              <a:t>מדוע תבנית</a:t>
            </a:r>
            <a:r>
              <a:rPr lang="en-US" dirty="0"/>
              <a:t>Visitor </a:t>
            </a:r>
            <a:r>
              <a:rPr lang="he-IL" dirty="0"/>
              <a:t> המעגלי מתאימה כאשר מבנה האובייקטים יציב?</a:t>
            </a:r>
          </a:p>
          <a:p>
            <a:pPr marL="514350" indent="-514350">
              <a:buAutoNum type="arabicPeriod"/>
            </a:pPr>
            <a:r>
              <a:rPr lang="he-IL" dirty="0"/>
              <a:t> מה המחיר התכנוני של הוספת סוג רכב חדש?</a:t>
            </a:r>
          </a:p>
          <a:p>
            <a:pPr marL="514350" indent="-514350">
              <a:buAutoNum type="arabicPeriod"/>
            </a:pPr>
            <a:r>
              <a:rPr lang="he-IL" dirty="0"/>
              <a:t>כיצד </a:t>
            </a:r>
            <a:r>
              <a:rPr lang="en-US" dirty="0"/>
              <a:t>Visitor</a:t>
            </a:r>
            <a:r>
              <a:rPr lang="he-IL" dirty="0"/>
              <a:t> מעגלי משפיע על צימוד בין מבקרים לאובייקטים? </a:t>
            </a:r>
          </a:p>
          <a:p>
            <a:pPr marL="514350" indent="-514350">
              <a:buAutoNum type="arabicPeriod"/>
            </a:pPr>
            <a:r>
              <a:rPr lang="he-IL" dirty="0"/>
              <a:t>באילו מצבים </a:t>
            </a:r>
            <a:r>
              <a:rPr lang="en-US" dirty="0"/>
              <a:t>Visitor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he-IL" dirty="0"/>
              <a:t>מעגלי מפר את עקרון ה-</a:t>
            </a:r>
            <a:r>
              <a:rPr lang="en-US" dirty="0"/>
              <a:t>OCP</a:t>
            </a:r>
            <a:r>
              <a:rPr lang="he-IL" dirty="0"/>
              <a:t>?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3168465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D95FE-B559-9DED-D645-910C70218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– </a:t>
            </a:r>
            <a:r>
              <a:rPr lang="en-US" dirty="0"/>
              <a:t>Visitor</a:t>
            </a:r>
            <a:r>
              <a:rPr lang="he-IL" dirty="0"/>
              <a:t> </a:t>
            </a:r>
            <a:r>
              <a:rPr lang="he-IL" dirty="0">
                <a:highlight>
                  <a:srgbClr val="FFFF00"/>
                </a:highlight>
              </a:rPr>
              <a:t>לא</a:t>
            </a:r>
            <a:r>
              <a:rPr lang="he-IL" dirty="0"/>
              <a:t> מעגלי</a:t>
            </a:r>
            <a:endParaRPr lang="en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D7828B-04BC-4D1A-74D5-EFB53088D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C912D-B0E1-4FE6-9EC3-57537027ACD9}" type="datetime9">
              <a:rPr lang="he-IL" smtClean="0"/>
              <a:t>15 דצמבר, 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C95BE0-98FB-5C98-7525-7BC539602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עיצוב ותכנות מונחה עצמים להנדסה - </a:t>
            </a:r>
            <a:r>
              <a:rPr lang="en-US"/>
              <a:t>Visitor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8D3A4C-D64A-2234-B401-2EFFE600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25</a:t>
            </a:fld>
            <a:endParaRPr kumimoji="0"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ACEB99-D769-CCA2-6BE3-E459DFE3A0C5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דרישות פונקציונליות: </a:t>
            </a:r>
          </a:p>
          <a:p>
            <a:r>
              <a:rPr lang="he-IL" dirty="0"/>
              <a:t>1.הרחבת המערכת כך שניתן להוסיף </a:t>
            </a:r>
            <a:r>
              <a:rPr lang="en-US" dirty="0"/>
              <a:t>Visitors </a:t>
            </a:r>
            <a:r>
              <a:rPr lang="he-IL" dirty="0"/>
              <a:t> חדשים מבלי לעדכן את כל סוגי הרכבים. </a:t>
            </a:r>
          </a:p>
          <a:p>
            <a:r>
              <a:rPr lang="he-IL" dirty="0"/>
              <a:t>2. לא כל </a:t>
            </a:r>
            <a:r>
              <a:rPr lang="en-US" dirty="0"/>
              <a:t>Visitor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he-IL" dirty="0"/>
              <a:t>חייב לתמוך בכל סוג רכב.</a:t>
            </a:r>
          </a:p>
          <a:p>
            <a:r>
              <a:rPr lang="he-IL" dirty="0"/>
              <a:t>3. מערכת החניון תאפשר הרצה של </a:t>
            </a:r>
            <a:r>
              <a:rPr lang="en-US" dirty="0"/>
              <a:t>Visitor </a:t>
            </a:r>
            <a:r>
              <a:rPr lang="he-IL" dirty="0"/>
              <a:t> גם אם הוא תומך רק בחלק מהרכיבים. </a:t>
            </a:r>
          </a:p>
          <a:p>
            <a:r>
              <a:rPr lang="he-IL" dirty="0"/>
              <a:t>שימושים לדוגמה:</a:t>
            </a:r>
          </a:p>
          <a:p>
            <a:pPr lvl="1"/>
            <a:r>
              <a:rPr lang="en-US" dirty="0"/>
              <a:t> Visitor</a:t>
            </a:r>
            <a:r>
              <a:rPr lang="he-IL" dirty="0"/>
              <a:t>שמטפל רק ברכבים חשמליים, אחד נוסף שמפיק דוח רק על חניות נכים, ואחד אחר לבדיקות תקינות שאינו רלוונטי לכל סוג רכב.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6037685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7B0A8-9A2E-2CCF-C46D-60D849B30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373FD-5BF9-1258-0458-6AE33D170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תרגיל – </a:t>
            </a:r>
            <a:r>
              <a:rPr lang="en-US" dirty="0"/>
              <a:t>Visitor</a:t>
            </a:r>
            <a:r>
              <a:rPr lang="he-IL" dirty="0"/>
              <a:t> </a:t>
            </a:r>
            <a:r>
              <a:rPr lang="he-IL" dirty="0">
                <a:highlight>
                  <a:srgbClr val="FFFF00"/>
                </a:highlight>
              </a:rPr>
              <a:t>לא</a:t>
            </a:r>
            <a:r>
              <a:rPr lang="he-IL" dirty="0"/>
              <a:t> מעגלי</a:t>
            </a:r>
            <a:endParaRPr lang="en-IL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426D1C-EC9F-4F19-F476-7644AF3D9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C912D-B0E1-4FE6-9EC3-57537027ACD9}" type="datetime9">
              <a:rPr lang="he-IL" smtClean="0"/>
              <a:t>15 דצמבר, 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C36FC-6B9D-7D10-6301-0A936143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he-IL"/>
              <a:t>עיצוב ותכנות מונחה עצמים להנדסה - </a:t>
            </a:r>
            <a:r>
              <a:rPr lang="en-US"/>
              <a:t>Visitor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9F0F1-5ED5-B32C-6349-29858369A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1" latinLnBrk="0" hangingPunct="1"/>
            <a:fld id="{EA7C8D44-3667-46F6-9772-CC52308E2A7F}" type="slidenum">
              <a:rPr kumimoji="0" lang="en-US" smtClean="0"/>
              <a:pPr eaLnBrk="1" latinLnBrk="0" hangingPunct="1"/>
              <a:t>26</a:t>
            </a:fld>
            <a:endParaRPr kumimoji="0"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0B47E2-9F10-646A-EC56-8BD1E1A27D3B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he-IL" dirty="0"/>
              <a:t>ענה על השאלות הבאות: </a:t>
            </a:r>
          </a:p>
          <a:p>
            <a:r>
              <a:rPr lang="he-IL" dirty="0"/>
              <a:t>1.באיזה </a:t>
            </a:r>
            <a:r>
              <a:rPr lang="en-US" dirty="0"/>
              <a:t>Visitor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he-IL" dirty="0"/>
              <a:t>היית בוחר עבור:</a:t>
            </a:r>
          </a:p>
          <a:p>
            <a:r>
              <a:rPr lang="he-IL" dirty="0"/>
              <a:t> • מערכת חניון עירונית עם רגולציה משתנה?   </a:t>
            </a:r>
          </a:p>
          <a:p>
            <a:r>
              <a:rPr lang="he-IL" dirty="0"/>
              <a:t>•  מערכת חניון סגורה עם סוגי רכבים קבועים?</a:t>
            </a:r>
          </a:p>
          <a:p>
            <a:r>
              <a:rPr lang="he-IL" dirty="0"/>
              <a:t> 2. כיצד </a:t>
            </a:r>
            <a:r>
              <a:rPr lang="en-US" dirty="0"/>
              <a:t>Visitor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he-IL" dirty="0"/>
              <a:t>משתלב עם </a:t>
            </a:r>
            <a:r>
              <a:rPr lang="en-US" dirty="0"/>
              <a:t>Decorator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he-IL" dirty="0"/>
              <a:t>שכבר קיים במערכת? </a:t>
            </a:r>
          </a:p>
          <a:p>
            <a:r>
              <a:rPr lang="he-IL" dirty="0"/>
              <a:t>3.האם </a:t>
            </a:r>
            <a:r>
              <a:rPr lang="en-US" dirty="0"/>
              <a:t>Visitor</a:t>
            </a:r>
            <a:r>
              <a:rPr lang="he-IL" dirty="0"/>
              <a:t> </a:t>
            </a:r>
            <a:r>
              <a:rPr lang="en-US" dirty="0"/>
              <a:t> </a:t>
            </a:r>
            <a:r>
              <a:rPr lang="he-IL" dirty="0"/>
              <a:t>מפר את עקרון ה-</a:t>
            </a:r>
            <a:r>
              <a:rPr lang="en-US" dirty="0"/>
              <a:t>SRP</a:t>
            </a:r>
            <a:r>
              <a:rPr lang="he-IL" dirty="0"/>
              <a:t>? נמק. </a:t>
            </a:r>
          </a:p>
          <a:p>
            <a:r>
              <a:rPr lang="he-IL" dirty="0"/>
              <a:t>4. הצע קריטריונים להחלטה בין </a:t>
            </a:r>
            <a:r>
              <a:rPr lang="en-US" dirty="0"/>
              <a:t>Visitor </a:t>
            </a:r>
            <a:r>
              <a:rPr lang="he-IL" dirty="0"/>
              <a:t> מעגלי ללא-מעגלי בפרויקט אמיתי.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0355254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חון לב 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מקור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קור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מחון לב 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מקור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קור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9982</TotalTime>
  <Words>1945</Words>
  <Application>Microsoft Macintosh PowerPoint</Application>
  <PresentationFormat>On-screen Show (4:3)</PresentationFormat>
  <Paragraphs>235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Arial</vt:lpstr>
      <vt:lpstr>David</vt:lpstr>
      <vt:lpstr>Bookman Old Style</vt:lpstr>
      <vt:lpstr>Wingdings 3</vt:lpstr>
      <vt:lpstr>Calibri</vt:lpstr>
      <vt:lpstr>Tahoma</vt:lpstr>
      <vt:lpstr>Gill Sans MT</vt:lpstr>
      <vt:lpstr>Wingdings</vt:lpstr>
      <vt:lpstr>מחון לב 2</vt:lpstr>
      <vt:lpstr>מחון לב 2</vt:lpstr>
      <vt:lpstr>עיצוב ותִכנוּת מונחי עצמים להנדסה מספר קורס: 157109  </vt:lpstr>
      <vt:lpstr>הגדרה והצורך בתבנית Visitor</vt:lpstr>
      <vt:lpstr>Visitor Pattern</vt:lpstr>
      <vt:lpstr>Dial-up Modem</vt:lpstr>
      <vt:lpstr>Dial-up Modem</vt:lpstr>
      <vt:lpstr>תבנית עיצוב Visitor סטנדרטי</vt:lpstr>
      <vt:lpstr>Visitor Pattern</vt:lpstr>
      <vt:lpstr>Modem עם תבנית עיצוב Visitor</vt:lpstr>
      <vt:lpstr>הוספת פונקציה עבור כל מחלקת בן</vt:lpstr>
      <vt:lpstr>דוגמא לשימוש בתבנית</vt:lpstr>
      <vt:lpstr>המשך הדוגמא</vt:lpstr>
      <vt:lpstr>תרגילון ב Visitor</vt:lpstr>
      <vt:lpstr>שתי קריאות פולימורפיות</vt:lpstr>
      <vt:lpstr>הבעיה של ה- Visitor הסטנדרטי</vt:lpstr>
      <vt:lpstr>הבעיה של ה- Visitor הסטנדרטי</vt:lpstr>
      <vt:lpstr>תבנית עיצוב Visitor לא מעגלי</vt:lpstr>
      <vt:lpstr>Acyclic Visitor Pattern</vt:lpstr>
      <vt:lpstr>הוספת ממשק עבור כל מחלקת בן</vt:lpstr>
      <vt:lpstr>מאפייני Acyclic Visitor Pattern</vt:lpstr>
      <vt:lpstr>חסרונות Visitor לא מעגלי</vt:lpstr>
      <vt:lpstr>Generic Visitor pattern</vt:lpstr>
      <vt:lpstr>תרגיל</vt:lpstr>
      <vt:lpstr>תרגיל – Visitor מעגלי</vt:lpstr>
      <vt:lpstr>תרגיל – Visitor מעגלי</vt:lpstr>
      <vt:lpstr>תרגיל – Visitor לא מעגלי</vt:lpstr>
      <vt:lpstr>תרגיל – Visitor לא מעגלי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יהונתן לויאן</dc:creator>
  <cp:lastModifiedBy>אור חיי אנידג'ר/Or Haim Anidjar</cp:lastModifiedBy>
  <cp:revision>129</cp:revision>
  <dcterms:created xsi:type="dcterms:W3CDTF">2020-08-17T21:27:16Z</dcterms:created>
  <dcterms:modified xsi:type="dcterms:W3CDTF">2025-12-15T15:27:46Z</dcterms:modified>
</cp:coreProperties>
</file>